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Open Sauce" panose="020B0604020202020204" charset="0"/>
      <p:regular r:id="rId9"/>
    </p:embeddedFont>
    <p:embeddedFont>
      <p:font typeface="Poppins" panose="00000500000000000000" pitchFamily="2" charset="0"/>
      <p:regular r:id="rId10"/>
    </p:embeddedFont>
    <p:embeddedFont>
      <p:font typeface="Poppins Bold" panose="020B0604020202020204" charset="0"/>
      <p:regular r:id="rId11"/>
    </p:embeddedFont>
    <p:embeddedFont>
      <p:font typeface="Telegraf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296111" y="349538"/>
            <a:ext cx="17695777" cy="9587924"/>
            <a:chOff x="0" y="0"/>
            <a:chExt cx="4660616" cy="2525215"/>
          </a:xfrm>
        </p:grpSpPr>
        <p:sp>
          <p:nvSpPr>
            <p:cNvPr id="3" name="Freeform 3"/>
            <p:cNvSpPr/>
            <p:nvPr/>
          </p:nvSpPr>
          <p:spPr>
            <a:xfrm>
              <a:off x="0" y="0"/>
              <a:ext cx="4660616" cy="2525215"/>
            </a:xfrm>
            <a:custGeom>
              <a:avLst/>
              <a:gdLst/>
              <a:ahLst/>
              <a:cxnLst/>
              <a:rect l="l" t="t" r="r" b="b"/>
              <a:pathLst>
                <a:path w="4660616" h="2525215">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id="4" name="TextBox 4"/>
            <p:cNvSpPr txBox="1"/>
            <p:nvPr/>
          </p:nvSpPr>
          <p:spPr>
            <a:xfrm>
              <a:off x="0" y="-38100"/>
              <a:ext cx="4660616" cy="2563315"/>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3054410" y="2524814"/>
            <a:ext cx="12179177" cy="5092709"/>
          </a:xfrm>
          <a:prstGeom prst="rect">
            <a:avLst/>
          </a:prstGeom>
        </p:spPr>
        <p:txBody>
          <a:bodyPr lIns="0" tIns="0" rIns="0" bIns="0" rtlCol="0" anchor="t">
            <a:spAutoFit/>
          </a:bodyPr>
          <a:lstStyle/>
          <a:p>
            <a:pPr algn="ctr">
              <a:lnSpc>
                <a:spcPts val="13299"/>
              </a:lnSpc>
              <a:spcBef>
                <a:spcPct val="0"/>
              </a:spcBef>
            </a:pPr>
            <a:r>
              <a:rPr lang="en-US" sz="9499" b="1" spc="-427" dirty="0">
                <a:solidFill>
                  <a:srgbClr val="FFFFFF"/>
                </a:solidFill>
                <a:latin typeface="Telegraf Bold"/>
                <a:ea typeface="Telegraf Bold"/>
                <a:cs typeface="Telegraf Bold"/>
                <a:sym typeface="Telegraf Bold"/>
              </a:rPr>
              <a:t>Online Payment Fraud Detection using Machine Learning</a:t>
            </a:r>
          </a:p>
        </p:txBody>
      </p:sp>
      <p:sp>
        <p:nvSpPr>
          <p:cNvPr id="6" name="TextBox 6"/>
          <p:cNvSpPr txBox="1"/>
          <p:nvPr/>
        </p:nvSpPr>
        <p:spPr>
          <a:xfrm>
            <a:off x="3054410" y="7353648"/>
            <a:ext cx="5186128" cy="874214"/>
          </a:xfrm>
          <a:prstGeom prst="rect">
            <a:avLst/>
          </a:prstGeom>
        </p:spPr>
        <p:txBody>
          <a:bodyPr lIns="0" tIns="0" rIns="0" bIns="0" rtlCol="0" anchor="t">
            <a:spAutoFit/>
          </a:bodyPr>
          <a:lstStyle/>
          <a:p>
            <a:pPr algn="l">
              <a:lnSpc>
                <a:spcPts val="3461"/>
              </a:lnSpc>
            </a:pPr>
            <a:r>
              <a:rPr lang="en-US" sz="2472" dirty="0">
                <a:solidFill>
                  <a:srgbClr val="FFFFFF"/>
                </a:solidFill>
                <a:latin typeface="Poppins"/>
                <a:ea typeface="Poppins"/>
                <a:cs typeface="Poppins"/>
                <a:sym typeface="Poppins"/>
              </a:rPr>
              <a:t>Presented By</a:t>
            </a:r>
          </a:p>
          <a:p>
            <a:pPr algn="l">
              <a:lnSpc>
                <a:spcPts val="3461"/>
              </a:lnSpc>
            </a:pPr>
            <a:r>
              <a:rPr lang="en-US" sz="2472" dirty="0">
                <a:solidFill>
                  <a:srgbClr val="FFFFFF"/>
                </a:solidFill>
                <a:latin typeface="Poppins"/>
                <a:ea typeface="Poppins"/>
                <a:cs typeface="Poppins"/>
                <a:sym typeface="Poppins"/>
              </a:rPr>
              <a:t>Ved Badarshahi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692807" y="1894724"/>
            <a:ext cx="4773151" cy="3248776"/>
            <a:chOff x="0" y="0"/>
            <a:chExt cx="1257126" cy="855645"/>
          </a:xfrm>
        </p:grpSpPr>
        <p:sp>
          <p:nvSpPr>
            <p:cNvPr id="3" name="Freeform 3"/>
            <p:cNvSpPr/>
            <p:nvPr/>
          </p:nvSpPr>
          <p:spPr>
            <a:xfrm>
              <a:off x="0" y="0"/>
              <a:ext cx="1257126" cy="855645"/>
            </a:xfrm>
            <a:custGeom>
              <a:avLst/>
              <a:gdLst/>
              <a:ahLst/>
              <a:cxnLst/>
              <a:rect l="l" t="t" r="r" b="b"/>
              <a:pathLst>
                <a:path w="1257126" h="855645">
                  <a:moveTo>
                    <a:pt x="90830" y="0"/>
                  </a:moveTo>
                  <a:lnTo>
                    <a:pt x="1166296" y="0"/>
                  </a:lnTo>
                  <a:cubicBezTo>
                    <a:pt x="1190386" y="0"/>
                    <a:pt x="1213489" y="9570"/>
                    <a:pt x="1230523" y="26604"/>
                  </a:cubicBezTo>
                  <a:cubicBezTo>
                    <a:pt x="1247557" y="43638"/>
                    <a:pt x="1257126" y="66741"/>
                    <a:pt x="1257126" y="90830"/>
                  </a:cubicBezTo>
                  <a:lnTo>
                    <a:pt x="1257126" y="764814"/>
                  </a:lnTo>
                  <a:cubicBezTo>
                    <a:pt x="1257126" y="788904"/>
                    <a:pt x="1247557" y="812007"/>
                    <a:pt x="1230523" y="829041"/>
                  </a:cubicBezTo>
                  <a:cubicBezTo>
                    <a:pt x="1213489" y="846075"/>
                    <a:pt x="1190386" y="855645"/>
                    <a:pt x="1166296" y="855645"/>
                  </a:cubicBezTo>
                  <a:lnTo>
                    <a:pt x="90830" y="855645"/>
                  </a:lnTo>
                  <a:cubicBezTo>
                    <a:pt x="66741" y="855645"/>
                    <a:pt x="43638" y="846075"/>
                    <a:pt x="26604" y="829041"/>
                  </a:cubicBezTo>
                  <a:cubicBezTo>
                    <a:pt x="9570" y="812007"/>
                    <a:pt x="0" y="788904"/>
                    <a:pt x="0" y="764814"/>
                  </a:cubicBezTo>
                  <a:lnTo>
                    <a:pt x="0" y="90830"/>
                  </a:lnTo>
                  <a:cubicBezTo>
                    <a:pt x="0" y="66741"/>
                    <a:pt x="9570" y="43638"/>
                    <a:pt x="26604" y="26604"/>
                  </a:cubicBezTo>
                  <a:cubicBezTo>
                    <a:pt x="43638" y="9570"/>
                    <a:pt x="66741" y="0"/>
                    <a:pt x="90830" y="0"/>
                  </a:cubicBezTo>
                  <a:close/>
                </a:path>
              </a:pathLst>
            </a:custGeom>
            <a:gradFill rotWithShape="1">
              <a:gsLst>
                <a:gs pos="0">
                  <a:srgbClr val="000000">
                    <a:alpha val="78000"/>
                  </a:srgbClr>
                </a:gs>
                <a:gs pos="100000">
                  <a:srgbClr val="DDDDDD">
                    <a:alpha val="14820"/>
                  </a:srgbClr>
                </a:gs>
              </a:gsLst>
              <a:lin ang="2700000"/>
            </a:gradFill>
          </p:spPr>
        </p:sp>
        <p:sp>
          <p:nvSpPr>
            <p:cNvPr id="4" name="TextBox 4"/>
            <p:cNvSpPr txBox="1"/>
            <p:nvPr/>
          </p:nvSpPr>
          <p:spPr>
            <a:xfrm>
              <a:off x="0" y="-66675"/>
              <a:ext cx="1257126" cy="922320"/>
            </a:xfrm>
            <a:prstGeom prst="rect">
              <a:avLst/>
            </a:prstGeom>
          </p:spPr>
          <p:txBody>
            <a:bodyPr lIns="50800" tIns="50800" rIns="50800" bIns="50800" rtlCol="0" anchor="ctr"/>
            <a:lstStyle/>
            <a:p>
              <a:pPr algn="ctr">
                <a:lnSpc>
                  <a:spcPts val="3151"/>
                </a:lnSpc>
              </a:pPr>
              <a:endParaRPr/>
            </a:p>
          </p:txBody>
        </p:sp>
      </p:grpSp>
      <p:grpSp>
        <p:nvGrpSpPr>
          <p:cNvPr id="5" name="Group 5"/>
          <p:cNvGrpSpPr/>
          <p:nvPr/>
        </p:nvGrpSpPr>
        <p:grpSpPr>
          <a:xfrm>
            <a:off x="692807" y="5781675"/>
            <a:ext cx="4773151" cy="3249752"/>
            <a:chOff x="0" y="0"/>
            <a:chExt cx="1257126" cy="855902"/>
          </a:xfrm>
        </p:grpSpPr>
        <p:sp>
          <p:nvSpPr>
            <p:cNvPr id="6" name="Freeform 6"/>
            <p:cNvSpPr/>
            <p:nvPr/>
          </p:nvSpPr>
          <p:spPr>
            <a:xfrm>
              <a:off x="0" y="0"/>
              <a:ext cx="1257126" cy="855902"/>
            </a:xfrm>
            <a:custGeom>
              <a:avLst/>
              <a:gdLst/>
              <a:ahLst/>
              <a:cxnLst/>
              <a:rect l="l" t="t" r="r" b="b"/>
              <a:pathLst>
                <a:path w="1257126" h="855902">
                  <a:moveTo>
                    <a:pt x="68123" y="0"/>
                  </a:moveTo>
                  <a:lnTo>
                    <a:pt x="1189003" y="0"/>
                  </a:lnTo>
                  <a:cubicBezTo>
                    <a:pt x="1207071" y="0"/>
                    <a:pt x="1224398" y="7177"/>
                    <a:pt x="1237174" y="19953"/>
                  </a:cubicBezTo>
                  <a:cubicBezTo>
                    <a:pt x="1249949" y="32728"/>
                    <a:pt x="1257126" y="50056"/>
                    <a:pt x="1257126" y="68123"/>
                  </a:cubicBezTo>
                  <a:lnTo>
                    <a:pt x="1257126" y="787779"/>
                  </a:lnTo>
                  <a:cubicBezTo>
                    <a:pt x="1257126" y="805846"/>
                    <a:pt x="1249949" y="823173"/>
                    <a:pt x="1237174" y="835949"/>
                  </a:cubicBezTo>
                  <a:cubicBezTo>
                    <a:pt x="1224398" y="848725"/>
                    <a:pt x="1207071" y="855902"/>
                    <a:pt x="1189003" y="855902"/>
                  </a:cubicBezTo>
                  <a:lnTo>
                    <a:pt x="68123" y="855902"/>
                  </a:lnTo>
                  <a:cubicBezTo>
                    <a:pt x="50056" y="855902"/>
                    <a:pt x="32728" y="848725"/>
                    <a:pt x="19953" y="835949"/>
                  </a:cubicBezTo>
                  <a:cubicBezTo>
                    <a:pt x="7177" y="823173"/>
                    <a:pt x="0" y="805846"/>
                    <a:pt x="0" y="787779"/>
                  </a:cubicBezTo>
                  <a:lnTo>
                    <a:pt x="0" y="68123"/>
                  </a:lnTo>
                  <a:cubicBezTo>
                    <a:pt x="0" y="50056"/>
                    <a:pt x="7177" y="32728"/>
                    <a:pt x="19953" y="19953"/>
                  </a:cubicBezTo>
                  <a:cubicBezTo>
                    <a:pt x="32728" y="7177"/>
                    <a:pt x="50056" y="0"/>
                    <a:pt x="68123"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7" name="TextBox 7"/>
            <p:cNvSpPr txBox="1"/>
            <p:nvPr/>
          </p:nvSpPr>
          <p:spPr>
            <a:xfrm>
              <a:off x="0" y="-66675"/>
              <a:ext cx="1257126" cy="922577"/>
            </a:xfrm>
            <a:prstGeom prst="rect">
              <a:avLst/>
            </a:prstGeom>
          </p:spPr>
          <p:txBody>
            <a:bodyPr lIns="50800" tIns="50800" rIns="50800" bIns="50800" rtlCol="0" anchor="ctr"/>
            <a:lstStyle/>
            <a:p>
              <a:pPr algn="ctr">
                <a:lnSpc>
                  <a:spcPts val="3151"/>
                </a:lnSpc>
              </a:pPr>
              <a:endParaRPr/>
            </a:p>
          </p:txBody>
        </p:sp>
      </p:grpSp>
      <p:sp>
        <p:nvSpPr>
          <p:cNvPr id="8" name="Freeform 8"/>
          <p:cNvSpPr/>
          <p:nvPr/>
        </p:nvSpPr>
        <p:spPr>
          <a:xfrm>
            <a:off x="4643006" y="6079966"/>
            <a:ext cx="714036" cy="714036"/>
          </a:xfrm>
          <a:custGeom>
            <a:avLst/>
            <a:gdLst/>
            <a:ahLst/>
            <a:cxnLst/>
            <a:rect l="l" t="t" r="r" b="b"/>
            <a:pathLst>
              <a:path w="714036" h="714036">
                <a:moveTo>
                  <a:pt x="0" y="0"/>
                </a:moveTo>
                <a:lnTo>
                  <a:pt x="714036" y="0"/>
                </a:lnTo>
                <a:lnTo>
                  <a:pt x="714036" y="714036"/>
                </a:lnTo>
                <a:lnTo>
                  <a:pt x="0" y="7140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292206" y="2651395"/>
            <a:ext cx="4849742" cy="1783060"/>
          </a:xfrm>
          <a:prstGeom prst="rect">
            <a:avLst/>
          </a:prstGeom>
        </p:spPr>
        <p:txBody>
          <a:bodyPr lIns="0" tIns="0" rIns="0" bIns="0" rtlCol="0" anchor="t">
            <a:spAutoFit/>
          </a:bodyPr>
          <a:lstStyle/>
          <a:p>
            <a:pPr algn="l">
              <a:lnSpc>
                <a:spcPts val="6642"/>
              </a:lnSpc>
            </a:pPr>
            <a:r>
              <a:rPr lang="en-US" sz="6512" b="1" spc="-293">
                <a:solidFill>
                  <a:srgbClr val="FFFFFF"/>
                </a:solidFill>
                <a:latin typeface="Telegraf Bold"/>
                <a:ea typeface="Telegraf Bold"/>
                <a:cs typeface="Telegraf Bold"/>
                <a:sym typeface="Telegraf Bold"/>
              </a:rPr>
              <a:t>Dataset</a:t>
            </a:r>
          </a:p>
          <a:p>
            <a:pPr algn="l">
              <a:lnSpc>
                <a:spcPts val="6642"/>
              </a:lnSpc>
            </a:pPr>
            <a:r>
              <a:rPr lang="en-US" sz="6512" b="1" spc="-293">
                <a:solidFill>
                  <a:srgbClr val="FFFFFF"/>
                </a:solidFill>
                <a:latin typeface="Telegraf Bold"/>
                <a:ea typeface="Telegraf Bold"/>
                <a:cs typeface="Telegraf Bold"/>
                <a:sym typeface="Telegraf Bold"/>
              </a:rPr>
              <a:t>Columns</a:t>
            </a:r>
          </a:p>
        </p:txBody>
      </p:sp>
      <p:sp>
        <p:nvSpPr>
          <p:cNvPr id="10" name="TextBox 10"/>
          <p:cNvSpPr txBox="1"/>
          <p:nvPr/>
        </p:nvSpPr>
        <p:spPr>
          <a:xfrm>
            <a:off x="803986" y="6797389"/>
            <a:ext cx="4661973" cy="1276715"/>
          </a:xfrm>
          <a:prstGeom prst="rect">
            <a:avLst/>
          </a:prstGeom>
        </p:spPr>
        <p:txBody>
          <a:bodyPr lIns="0" tIns="0" rIns="0" bIns="0" rtlCol="0" anchor="t">
            <a:spAutoFit/>
          </a:bodyPr>
          <a:lstStyle/>
          <a:p>
            <a:pPr algn="just">
              <a:lnSpc>
                <a:spcPts val="10434"/>
              </a:lnSpc>
            </a:pPr>
            <a:r>
              <a:rPr lang="en-US" sz="7453" spc="-327">
                <a:solidFill>
                  <a:srgbClr val="FFFFFF"/>
                </a:solidFill>
                <a:latin typeface="Open Sauce"/>
                <a:ea typeface="Open Sauce"/>
                <a:cs typeface="Open Sauce"/>
                <a:sym typeface="Open Sauce"/>
              </a:rPr>
              <a:t>6362620</a:t>
            </a:r>
          </a:p>
        </p:txBody>
      </p:sp>
      <p:sp>
        <p:nvSpPr>
          <p:cNvPr id="11" name="TextBox 11"/>
          <p:cNvSpPr txBox="1"/>
          <p:nvPr/>
        </p:nvSpPr>
        <p:spPr>
          <a:xfrm>
            <a:off x="3649437" y="7988379"/>
            <a:ext cx="1350587" cy="562368"/>
          </a:xfrm>
          <a:prstGeom prst="rect">
            <a:avLst/>
          </a:prstGeom>
        </p:spPr>
        <p:txBody>
          <a:bodyPr lIns="0" tIns="0" rIns="0" bIns="0" rtlCol="0" anchor="t">
            <a:spAutoFit/>
          </a:bodyPr>
          <a:lstStyle/>
          <a:p>
            <a:pPr marL="0" lvl="0" indent="0" algn="r">
              <a:lnSpc>
                <a:spcPts val="4435"/>
              </a:lnSpc>
              <a:spcBef>
                <a:spcPct val="0"/>
              </a:spcBef>
            </a:pPr>
            <a:r>
              <a:rPr lang="en-US" sz="3168">
                <a:solidFill>
                  <a:srgbClr val="FFFFFF"/>
                </a:solidFill>
                <a:latin typeface="Poppins"/>
                <a:ea typeface="Poppins"/>
                <a:cs typeface="Poppins"/>
                <a:sym typeface="Poppins"/>
              </a:rPr>
              <a:t>ROWS</a:t>
            </a:r>
          </a:p>
        </p:txBody>
      </p:sp>
      <p:grpSp>
        <p:nvGrpSpPr>
          <p:cNvPr id="12" name="Group 12"/>
          <p:cNvGrpSpPr/>
          <p:nvPr/>
        </p:nvGrpSpPr>
        <p:grpSpPr>
          <a:xfrm>
            <a:off x="5831874" y="683474"/>
            <a:ext cx="12035966" cy="8920053"/>
            <a:chOff x="0" y="0"/>
            <a:chExt cx="3419408" cy="2534180"/>
          </a:xfrm>
        </p:grpSpPr>
        <p:sp>
          <p:nvSpPr>
            <p:cNvPr id="13" name="Freeform 13"/>
            <p:cNvSpPr/>
            <p:nvPr/>
          </p:nvSpPr>
          <p:spPr>
            <a:xfrm>
              <a:off x="0" y="0"/>
              <a:ext cx="3419408" cy="2534180"/>
            </a:xfrm>
            <a:custGeom>
              <a:avLst/>
              <a:gdLst/>
              <a:ahLst/>
              <a:cxnLst/>
              <a:rect l="l" t="t" r="r" b="b"/>
              <a:pathLst>
                <a:path w="3419408" h="2534180">
                  <a:moveTo>
                    <a:pt x="36021" y="0"/>
                  </a:moveTo>
                  <a:lnTo>
                    <a:pt x="3383387" y="0"/>
                  </a:lnTo>
                  <a:cubicBezTo>
                    <a:pt x="3392941" y="0"/>
                    <a:pt x="3402103" y="3795"/>
                    <a:pt x="3408858" y="10550"/>
                  </a:cubicBezTo>
                  <a:cubicBezTo>
                    <a:pt x="3415613" y="17306"/>
                    <a:pt x="3419408" y="26468"/>
                    <a:pt x="3419408" y="36021"/>
                  </a:cubicBezTo>
                  <a:lnTo>
                    <a:pt x="3419408" y="2498159"/>
                  </a:lnTo>
                  <a:cubicBezTo>
                    <a:pt x="3419408" y="2518053"/>
                    <a:pt x="3403281" y="2534180"/>
                    <a:pt x="3383387" y="2534180"/>
                  </a:cubicBezTo>
                  <a:lnTo>
                    <a:pt x="36021" y="2534180"/>
                  </a:lnTo>
                  <a:cubicBezTo>
                    <a:pt x="26468" y="2534180"/>
                    <a:pt x="17306" y="2530385"/>
                    <a:pt x="10550" y="2523629"/>
                  </a:cubicBezTo>
                  <a:cubicBezTo>
                    <a:pt x="3795" y="2516874"/>
                    <a:pt x="0" y="2507712"/>
                    <a:pt x="0" y="2498159"/>
                  </a:cubicBezTo>
                  <a:lnTo>
                    <a:pt x="0" y="36021"/>
                  </a:lnTo>
                  <a:cubicBezTo>
                    <a:pt x="0" y="26468"/>
                    <a:pt x="3795" y="17306"/>
                    <a:pt x="10550" y="10550"/>
                  </a:cubicBezTo>
                  <a:cubicBezTo>
                    <a:pt x="17306" y="3795"/>
                    <a:pt x="26468" y="0"/>
                    <a:pt x="36021" y="0"/>
                  </a:cubicBezTo>
                  <a:close/>
                </a:path>
              </a:pathLst>
            </a:custGeom>
            <a:gradFill rotWithShape="1">
              <a:gsLst>
                <a:gs pos="0">
                  <a:srgbClr val="000000">
                    <a:alpha val="78000"/>
                  </a:srgbClr>
                </a:gs>
                <a:gs pos="100000">
                  <a:srgbClr val="DDDDDD">
                    <a:alpha val="14820"/>
                  </a:srgbClr>
                </a:gs>
              </a:gsLst>
              <a:lin ang="2700000"/>
            </a:gradFill>
          </p:spPr>
        </p:sp>
        <p:sp>
          <p:nvSpPr>
            <p:cNvPr id="14" name="TextBox 14"/>
            <p:cNvSpPr txBox="1"/>
            <p:nvPr/>
          </p:nvSpPr>
          <p:spPr>
            <a:xfrm>
              <a:off x="0" y="-66675"/>
              <a:ext cx="3419408" cy="2600855"/>
            </a:xfrm>
            <a:prstGeom prst="rect">
              <a:avLst/>
            </a:prstGeom>
          </p:spPr>
          <p:txBody>
            <a:bodyPr lIns="50800" tIns="50800" rIns="50800" bIns="50800" rtlCol="0" anchor="ctr"/>
            <a:lstStyle/>
            <a:p>
              <a:pPr algn="ctr">
                <a:lnSpc>
                  <a:spcPts val="3151"/>
                </a:lnSpc>
              </a:pPr>
              <a:endParaRPr/>
            </a:p>
          </p:txBody>
        </p:sp>
      </p:grpSp>
      <p:sp>
        <p:nvSpPr>
          <p:cNvPr id="15" name="TextBox 15"/>
          <p:cNvSpPr txBox="1"/>
          <p:nvPr/>
        </p:nvSpPr>
        <p:spPr>
          <a:xfrm>
            <a:off x="6063487" y="1059220"/>
            <a:ext cx="11621494" cy="8528219"/>
          </a:xfrm>
          <a:prstGeom prst="rect">
            <a:avLst/>
          </a:prstGeom>
        </p:spPr>
        <p:txBody>
          <a:bodyPr lIns="0" tIns="0" rIns="0" bIns="0" rtlCol="0" anchor="t">
            <a:spAutoFit/>
          </a:bodyPr>
          <a:lstStyle/>
          <a:p>
            <a:pPr algn="just">
              <a:lnSpc>
                <a:spcPts val="3244"/>
              </a:lnSpc>
            </a:pPr>
            <a:r>
              <a:rPr lang="en-US" sz="2317">
                <a:solidFill>
                  <a:srgbClr val="FFFFFF"/>
                </a:solidFill>
                <a:latin typeface="Poppins"/>
                <a:ea typeface="Poppins"/>
                <a:cs typeface="Poppins"/>
                <a:sym typeface="Poppins"/>
              </a:rPr>
              <a:t>&lt;class 'pandas.core.frame.DataFrame'&gt;</a:t>
            </a:r>
          </a:p>
          <a:p>
            <a:pPr algn="just">
              <a:lnSpc>
                <a:spcPts val="3244"/>
              </a:lnSpc>
            </a:pPr>
            <a:r>
              <a:rPr lang="en-US" sz="2317">
                <a:solidFill>
                  <a:srgbClr val="FFFFFF"/>
                </a:solidFill>
                <a:latin typeface="Poppins"/>
                <a:ea typeface="Poppins"/>
                <a:cs typeface="Poppins"/>
                <a:sym typeface="Poppins"/>
              </a:rPr>
              <a:t>RangeIndex: 6362620 entries, 0 to 6362619</a:t>
            </a:r>
          </a:p>
          <a:p>
            <a:pPr algn="just">
              <a:lnSpc>
                <a:spcPts val="3244"/>
              </a:lnSpc>
            </a:pPr>
            <a:r>
              <a:rPr lang="en-US" sz="2317">
                <a:solidFill>
                  <a:srgbClr val="FFFFFF"/>
                </a:solidFill>
                <a:latin typeface="Poppins"/>
                <a:ea typeface="Poppins"/>
                <a:cs typeface="Poppins"/>
                <a:sym typeface="Poppins"/>
              </a:rPr>
              <a:t>Data columns (total 11 columns):</a:t>
            </a:r>
          </a:p>
          <a:p>
            <a:pPr algn="just">
              <a:lnSpc>
                <a:spcPts val="3244"/>
              </a:lnSpc>
            </a:pPr>
            <a:endParaRPr lang="en-US" sz="2317">
              <a:solidFill>
                <a:srgbClr val="FFFFFF"/>
              </a:solidFill>
              <a:latin typeface="Poppins"/>
              <a:ea typeface="Poppins"/>
              <a:cs typeface="Poppins"/>
              <a:sym typeface="Poppins"/>
            </a:endParaRPr>
          </a:p>
          <a:p>
            <a:pPr algn="just">
              <a:lnSpc>
                <a:spcPts val="3244"/>
              </a:lnSpc>
            </a:pPr>
            <a:endParaRPr lang="en-US" sz="2317">
              <a:solidFill>
                <a:srgbClr val="FFFFFF"/>
              </a:solidFill>
              <a:latin typeface="Poppins"/>
              <a:ea typeface="Poppins"/>
              <a:cs typeface="Poppins"/>
              <a:sym typeface="Poppins"/>
            </a:endParaRPr>
          </a:p>
          <a:p>
            <a:pPr algn="just">
              <a:lnSpc>
                <a:spcPts val="3244"/>
              </a:lnSpc>
            </a:pPr>
            <a:r>
              <a:rPr lang="en-US" sz="2317">
                <a:solidFill>
                  <a:srgbClr val="FFFFFF"/>
                </a:solidFill>
                <a:latin typeface="Poppins"/>
                <a:ea typeface="Poppins"/>
                <a:cs typeface="Poppins"/>
                <a:sym typeface="Poppins"/>
              </a:rPr>
              <a:t> 0   step            int64  - tells about the unit of time</a:t>
            </a:r>
          </a:p>
          <a:p>
            <a:pPr algn="just">
              <a:lnSpc>
                <a:spcPts val="3244"/>
              </a:lnSpc>
            </a:pPr>
            <a:r>
              <a:rPr lang="en-US" sz="2317">
                <a:solidFill>
                  <a:srgbClr val="FFFFFF"/>
                </a:solidFill>
                <a:latin typeface="Poppins"/>
                <a:ea typeface="Poppins"/>
                <a:cs typeface="Poppins"/>
                <a:sym typeface="Poppins"/>
              </a:rPr>
              <a:t> 1   type            object  - type of transaction done</a:t>
            </a:r>
          </a:p>
          <a:p>
            <a:pPr algn="just">
              <a:lnSpc>
                <a:spcPts val="3244"/>
              </a:lnSpc>
            </a:pPr>
            <a:r>
              <a:rPr lang="en-US" sz="2317">
                <a:solidFill>
                  <a:srgbClr val="FFFFFF"/>
                </a:solidFill>
                <a:latin typeface="Poppins"/>
                <a:ea typeface="Poppins"/>
                <a:cs typeface="Poppins"/>
                <a:sym typeface="Poppins"/>
              </a:rPr>
              <a:t> 2   amount          float64 - the total amount of transaction</a:t>
            </a:r>
          </a:p>
          <a:p>
            <a:pPr algn="just">
              <a:lnSpc>
                <a:spcPts val="3244"/>
              </a:lnSpc>
            </a:pPr>
            <a:r>
              <a:rPr lang="en-US" sz="2317">
                <a:solidFill>
                  <a:srgbClr val="FFFFFF"/>
                </a:solidFill>
                <a:latin typeface="Poppins"/>
                <a:ea typeface="Poppins"/>
                <a:cs typeface="Poppins"/>
                <a:sym typeface="Poppins"/>
              </a:rPr>
              <a:t> 3   nameOrig        object - account that starts the transaction</a:t>
            </a:r>
          </a:p>
          <a:p>
            <a:pPr algn="just">
              <a:lnSpc>
                <a:spcPts val="3244"/>
              </a:lnSpc>
            </a:pPr>
            <a:r>
              <a:rPr lang="en-US" sz="2317">
                <a:solidFill>
                  <a:srgbClr val="FFFFFF"/>
                </a:solidFill>
                <a:latin typeface="Poppins"/>
                <a:ea typeface="Poppins"/>
                <a:cs typeface="Poppins"/>
                <a:sym typeface="Poppins"/>
              </a:rPr>
              <a:t> 4   oldbalanceOrg   float64 - Balance of account of sender before transaction</a:t>
            </a:r>
          </a:p>
          <a:p>
            <a:pPr algn="just">
              <a:lnSpc>
                <a:spcPts val="3244"/>
              </a:lnSpc>
            </a:pPr>
            <a:r>
              <a:rPr lang="en-US" sz="2317">
                <a:solidFill>
                  <a:srgbClr val="FFFFFF"/>
                </a:solidFill>
                <a:latin typeface="Poppins"/>
                <a:ea typeface="Poppins"/>
                <a:cs typeface="Poppins"/>
                <a:sym typeface="Poppins"/>
              </a:rPr>
              <a:t> 5   newbalanceOrig  float64 - Balance of account of sender after transaction</a:t>
            </a:r>
          </a:p>
          <a:p>
            <a:pPr algn="just">
              <a:lnSpc>
                <a:spcPts val="3244"/>
              </a:lnSpc>
            </a:pPr>
            <a:r>
              <a:rPr lang="en-US" sz="2317">
                <a:solidFill>
                  <a:srgbClr val="FFFFFF"/>
                </a:solidFill>
                <a:latin typeface="Poppins"/>
                <a:ea typeface="Poppins"/>
                <a:cs typeface="Poppins"/>
                <a:sym typeface="Poppins"/>
              </a:rPr>
              <a:t> 6   nameDest        object - account that receives the transaction</a:t>
            </a:r>
          </a:p>
          <a:p>
            <a:pPr algn="just">
              <a:lnSpc>
                <a:spcPts val="3244"/>
              </a:lnSpc>
            </a:pPr>
            <a:r>
              <a:rPr lang="en-US" sz="2317">
                <a:solidFill>
                  <a:srgbClr val="FFFFFF"/>
                </a:solidFill>
                <a:latin typeface="Poppins"/>
                <a:ea typeface="Poppins"/>
                <a:cs typeface="Poppins"/>
                <a:sym typeface="Poppins"/>
              </a:rPr>
              <a:t> 7   oldbalanceDest  float64 - Balance of account of receiver before transaction</a:t>
            </a:r>
          </a:p>
          <a:p>
            <a:pPr algn="just">
              <a:lnSpc>
                <a:spcPts val="3244"/>
              </a:lnSpc>
            </a:pPr>
            <a:r>
              <a:rPr lang="en-US" sz="2317">
                <a:solidFill>
                  <a:srgbClr val="FFFFFF"/>
                </a:solidFill>
                <a:latin typeface="Poppins"/>
                <a:ea typeface="Poppins"/>
                <a:cs typeface="Poppins"/>
                <a:sym typeface="Poppins"/>
              </a:rPr>
              <a:t> 8   newbalanceDest  float64 - Balance of account of receiver after transaction</a:t>
            </a:r>
          </a:p>
          <a:p>
            <a:pPr algn="just">
              <a:lnSpc>
                <a:spcPts val="3244"/>
              </a:lnSpc>
            </a:pPr>
            <a:r>
              <a:rPr lang="en-US" sz="2317">
                <a:solidFill>
                  <a:srgbClr val="FFFFFF"/>
                </a:solidFill>
                <a:latin typeface="Poppins"/>
                <a:ea typeface="Poppins"/>
                <a:cs typeface="Poppins"/>
                <a:sym typeface="Poppins"/>
              </a:rPr>
              <a:t> 9   isFraud         int64  - The value to be predicted i.e. 0 or 1</a:t>
            </a:r>
          </a:p>
          <a:p>
            <a:pPr algn="just">
              <a:lnSpc>
                <a:spcPts val="3244"/>
              </a:lnSpc>
            </a:pPr>
            <a:r>
              <a:rPr lang="en-US" sz="2317">
                <a:solidFill>
                  <a:srgbClr val="FFFFFF"/>
                </a:solidFill>
                <a:latin typeface="Poppins"/>
                <a:ea typeface="Poppins"/>
                <a:cs typeface="Poppins"/>
                <a:sym typeface="Poppins"/>
              </a:rPr>
              <a:t> 10  isFlaggedFraud  int64  - Whether the system flagged the transaction as suspicious based on simple internal rules.</a:t>
            </a:r>
          </a:p>
          <a:p>
            <a:pPr algn="just">
              <a:lnSpc>
                <a:spcPts val="3244"/>
              </a:lnSpc>
            </a:pPr>
            <a:endParaRPr lang="en-US" sz="2317">
              <a:solidFill>
                <a:srgbClr val="FFFFFF"/>
              </a:solidFill>
              <a:latin typeface="Poppins"/>
              <a:ea typeface="Poppins"/>
              <a:cs typeface="Poppins"/>
              <a:sym typeface="Poppins"/>
            </a:endParaRPr>
          </a:p>
          <a:p>
            <a:pPr algn="just">
              <a:lnSpc>
                <a:spcPts val="3244"/>
              </a:lnSpc>
            </a:pPr>
            <a:r>
              <a:rPr lang="en-US" sz="2317">
                <a:solidFill>
                  <a:srgbClr val="FFFFFF"/>
                </a:solidFill>
                <a:latin typeface="Poppins"/>
                <a:ea typeface="Poppins"/>
                <a:cs typeface="Poppins"/>
                <a:sym typeface="Poppins"/>
              </a:rPr>
              <a:t>dtypes: float64(5), int64(3), object(3)</a:t>
            </a:r>
          </a:p>
          <a:p>
            <a:pPr algn="just">
              <a:lnSpc>
                <a:spcPts val="3244"/>
              </a:lnSpc>
            </a:pPr>
            <a:r>
              <a:rPr lang="en-US" sz="2317">
                <a:solidFill>
                  <a:srgbClr val="FFFFFF"/>
                </a:solidFill>
                <a:latin typeface="Poppins"/>
                <a:ea typeface="Poppins"/>
                <a:cs typeface="Poppins"/>
                <a:sym typeface="Poppins"/>
              </a:rPr>
              <a:t>memory usage: 534.0+ MB</a:t>
            </a:r>
          </a:p>
          <a:p>
            <a:pPr algn="just">
              <a:lnSpc>
                <a:spcPts val="3244"/>
              </a:lnSpc>
            </a:pPr>
            <a:endParaRPr lang="en-US" sz="2317">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803986" y="643529"/>
            <a:ext cx="8519876" cy="8912979"/>
            <a:chOff x="0" y="0"/>
            <a:chExt cx="2243918" cy="2347451"/>
          </a:xfrm>
        </p:grpSpPr>
        <p:sp>
          <p:nvSpPr>
            <p:cNvPr id="3" name="Freeform 3"/>
            <p:cNvSpPr/>
            <p:nvPr/>
          </p:nvSpPr>
          <p:spPr>
            <a:xfrm>
              <a:off x="0" y="0"/>
              <a:ext cx="2243918" cy="2347451"/>
            </a:xfrm>
            <a:custGeom>
              <a:avLst/>
              <a:gdLst/>
              <a:ahLst/>
              <a:cxnLst/>
              <a:rect l="l" t="t" r="r" b="b"/>
              <a:pathLst>
                <a:path w="2243918" h="2347451">
                  <a:moveTo>
                    <a:pt x="50887" y="0"/>
                  </a:moveTo>
                  <a:lnTo>
                    <a:pt x="2193031" y="0"/>
                  </a:lnTo>
                  <a:cubicBezTo>
                    <a:pt x="2206527" y="0"/>
                    <a:pt x="2219471" y="5361"/>
                    <a:pt x="2229014" y="14904"/>
                  </a:cubicBezTo>
                  <a:cubicBezTo>
                    <a:pt x="2238557" y="24447"/>
                    <a:pt x="2243918" y="37391"/>
                    <a:pt x="2243918" y="50887"/>
                  </a:cubicBezTo>
                  <a:lnTo>
                    <a:pt x="2243918" y="2296565"/>
                  </a:lnTo>
                  <a:cubicBezTo>
                    <a:pt x="2243918" y="2310061"/>
                    <a:pt x="2238557" y="2323004"/>
                    <a:pt x="2229014" y="2332547"/>
                  </a:cubicBezTo>
                  <a:cubicBezTo>
                    <a:pt x="2219471" y="2342090"/>
                    <a:pt x="2206527" y="2347451"/>
                    <a:pt x="2193031" y="2347451"/>
                  </a:cubicBezTo>
                  <a:lnTo>
                    <a:pt x="50887" y="2347451"/>
                  </a:lnTo>
                  <a:cubicBezTo>
                    <a:pt x="37391" y="2347451"/>
                    <a:pt x="24447" y="2342090"/>
                    <a:pt x="14904" y="2332547"/>
                  </a:cubicBezTo>
                  <a:cubicBezTo>
                    <a:pt x="5361" y="2323004"/>
                    <a:pt x="0" y="2310061"/>
                    <a:pt x="0" y="2296565"/>
                  </a:cubicBezTo>
                  <a:lnTo>
                    <a:pt x="0" y="50887"/>
                  </a:lnTo>
                  <a:cubicBezTo>
                    <a:pt x="0" y="37391"/>
                    <a:pt x="5361" y="24447"/>
                    <a:pt x="14904" y="14904"/>
                  </a:cubicBezTo>
                  <a:cubicBezTo>
                    <a:pt x="24447" y="5361"/>
                    <a:pt x="37391" y="0"/>
                    <a:pt x="50887" y="0"/>
                  </a:cubicBezTo>
                  <a:close/>
                </a:path>
              </a:pathLst>
            </a:custGeom>
            <a:gradFill rotWithShape="1">
              <a:gsLst>
                <a:gs pos="0">
                  <a:srgbClr val="000000">
                    <a:alpha val="78000"/>
                  </a:srgbClr>
                </a:gs>
                <a:gs pos="100000">
                  <a:srgbClr val="DDDDDD">
                    <a:alpha val="14820"/>
                  </a:srgbClr>
                </a:gs>
              </a:gsLst>
              <a:lin ang="2700000"/>
            </a:gradFill>
          </p:spPr>
        </p:sp>
        <p:sp>
          <p:nvSpPr>
            <p:cNvPr id="4" name="TextBox 4"/>
            <p:cNvSpPr txBox="1"/>
            <p:nvPr/>
          </p:nvSpPr>
          <p:spPr>
            <a:xfrm>
              <a:off x="0" y="-66675"/>
              <a:ext cx="2243918" cy="2414126"/>
            </a:xfrm>
            <a:prstGeom prst="rect">
              <a:avLst/>
            </a:prstGeom>
          </p:spPr>
          <p:txBody>
            <a:bodyPr lIns="50800" tIns="50800" rIns="50800" bIns="50800" rtlCol="0" anchor="ctr"/>
            <a:lstStyle/>
            <a:p>
              <a:pPr algn="ctr">
                <a:lnSpc>
                  <a:spcPts val="3151"/>
                </a:lnSpc>
              </a:pPr>
              <a:endParaRPr/>
            </a:p>
          </p:txBody>
        </p:sp>
      </p:grpSp>
      <p:grpSp>
        <p:nvGrpSpPr>
          <p:cNvPr id="5" name="Group 5"/>
          <p:cNvGrpSpPr/>
          <p:nvPr/>
        </p:nvGrpSpPr>
        <p:grpSpPr>
          <a:xfrm>
            <a:off x="9626763" y="234637"/>
            <a:ext cx="6619128" cy="4908863"/>
            <a:chOff x="0" y="0"/>
            <a:chExt cx="1165771" cy="864557"/>
          </a:xfrm>
        </p:grpSpPr>
        <p:sp>
          <p:nvSpPr>
            <p:cNvPr id="6" name="Freeform 6"/>
            <p:cNvSpPr/>
            <p:nvPr/>
          </p:nvSpPr>
          <p:spPr>
            <a:xfrm>
              <a:off x="0" y="0"/>
              <a:ext cx="1165771" cy="864557"/>
            </a:xfrm>
            <a:custGeom>
              <a:avLst/>
              <a:gdLst/>
              <a:ahLst/>
              <a:cxnLst/>
              <a:rect l="l" t="t" r="r" b="b"/>
              <a:pathLst>
                <a:path w="1165771" h="864557">
                  <a:moveTo>
                    <a:pt x="65499" y="0"/>
                  </a:moveTo>
                  <a:lnTo>
                    <a:pt x="1100272" y="0"/>
                  </a:lnTo>
                  <a:cubicBezTo>
                    <a:pt x="1136446" y="0"/>
                    <a:pt x="1165771" y="29325"/>
                    <a:pt x="1165771" y="65499"/>
                  </a:cubicBezTo>
                  <a:lnTo>
                    <a:pt x="1165771" y="799057"/>
                  </a:lnTo>
                  <a:cubicBezTo>
                    <a:pt x="1165771" y="835232"/>
                    <a:pt x="1136446" y="864557"/>
                    <a:pt x="1100272" y="864557"/>
                  </a:cubicBezTo>
                  <a:lnTo>
                    <a:pt x="65499" y="864557"/>
                  </a:lnTo>
                  <a:cubicBezTo>
                    <a:pt x="29325" y="864557"/>
                    <a:pt x="0" y="835232"/>
                    <a:pt x="0" y="799057"/>
                  </a:cubicBezTo>
                  <a:lnTo>
                    <a:pt x="0" y="65499"/>
                  </a:lnTo>
                  <a:cubicBezTo>
                    <a:pt x="0" y="29325"/>
                    <a:pt x="29325" y="0"/>
                    <a:pt x="65499" y="0"/>
                  </a:cubicBezTo>
                  <a:close/>
                </a:path>
              </a:pathLst>
            </a:custGeom>
            <a:blipFill>
              <a:blip r:embed="rId2"/>
              <a:stretch>
                <a:fillRect t="-3270" b="-3270"/>
              </a:stretch>
            </a:blipFill>
          </p:spPr>
        </p:sp>
      </p:grpSp>
      <p:grpSp>
        <p:nvGrpSpPr>
          <p:cNvPr id="7" name="Group 7"/>
          <p:cNvGrpSpPr/>
          <p:nvPr/>
        </p:nvGrpSpPr>
        <p:grpSpPr>
          <a:xfrm>
            <a:off x="9626763" y="5203190"/>
            <a:ext cx="6619128" cy="4908863"/>
            <a:chOff x="0" y="0"/>
            <a:chExt cx="1165771" cy="864557"/>
          </a:xfrm>
        </p:grpSpPr>
        <p:sp>
          <p:nvSpPr>
            <p:cNvPr id="8" name="Freeform 8"/>
            <p:cNvSpPr/>
            <p:nvPr/>
          </p:nvSpPr>
          <p:spPr>
            <a:xfrm>
              <a:off x="0" y="0"/>
              <a:ext cx="1165771" cy="864557"/>
            </a:xfrm>
            <a:custGeom>
              <a:avLst/>
              <a:gdLst/>
              <a:ahLst/>
              <a:cxnLst/>
              <a:rect l="l" t="t" r="r" b="b"/>
              <a:pathLst>
                <a:path w="1165771" h="864557">
                  <a:moveTo>
                    <a:pt x="65499" y="0"/>
                  </a:moveTo>
                  <a:lnTo>
                    <a:pt x="1100272" y="0"/>
                  </a:lnTo>
                  <a:cubicBezTo>
                    <a:pt x="1136446" y="0"/>
                    <a:pt x="1165771" y="29325"/>
                    <a:pt x="1165771" y="65499"/>
                  </a:cubicBezTo>
                  <a:lnTo>
                    <a:pt x="1165771" y="799057"/>
                  </a:lnTo>
                  <a:cubicBezTo>
                    <a:pt x="1165771" y="835232"/>
                    <a:pt x="1136446" y="864557"/>
                    <a:pt x="1100272" y="864557"/>
                  </a:cubicBezTo>
                  <a:lnTo>
                    <a:pt x="65499" y="864557"/>
                  </a:lnTo>
                  <a:cubicBezTo>
                    <a:pt x="29325" y="864557"/>
                    <a:pt x="0" y="835232"/>
                    <a:pt x="0" y="799057"/>
                  </a:cubicBezTo>
                  <a:lnTo>
                    <a:pt x="0" y="65499"/>
                  </a:lnTo>
                  <a:cubicBezTo>
                    <a:pt x="0" y="29325"/>
                    <a:pt x="29325" y="0"/>
                    <a:pt x="65499" y="0"/>
                  </a:cubicBezTo>
                  <a:close/>
                </a:path>
              </a:pathLst>
            </a:custGeom>
            <a:blipFill>
              <a:blip r:embed="rId3"/>
              <a:stretch>
                <a:fillRect r="-2487"/>
              </a:stretch>
            </a:blipFill>
          </p:spPr>
        </p:sp>
      </p:grpSp>
      <p:grpSp>
        <p:nvGrpSpPr>
          <p:cNvPr id="9" name="Group 9"/>
          <p:cNvGrpSpPr/>
          <p:nvPr/>
        </p:nvGrpSpPr>
        <p:grpSpPr>
          <a:xfrm>
            <a:off x="16478163" y="234637"/>
            <a:ext cx="1562273" cy="9618954"/>
            <a:chOff x="0" y="0"/>
            <a:chExt cx="411463" cy="2533387"/>
          </a:xfrm>
        </p:grpSpPr>
        <p:sp>
          <p:nvSpPr>
            <p:cNvPr id="10" name="Freeform 10"/>
            <p:cNvSpPr/>
            <p:nvPr/>
          </p:nvSpPr>
          <p:spPr>
            <a:xfrm>
              <a:off x="0" y="0"/>
              <a:ext cx="411463" cy="2533387"/>
            </a:xfrm>
            <a:custGeom>
              <a:avLst/>
              <a:gdLst/>
              <a:ahLst/>
              <a:cxnLst/>
              <a:rect l="l" t="t" r="r" b="b"/>
              <a:pathLst>
                <a:path w="411463" h="2533387">
                  <a:moveTo>
                    <a:pt x="205731" y="0"/>
                  </a:moveTo>
                  <a:lnTo>
                    <a:pt x="205731" y="0"/>
                  </a:lnTo>
                  <a:cubicBezTo>
                    <a:pt x="319354" y="0"/>
                    <a:pt x="411463" y="92109"/>
                    <a:pt x="411463" y="205731"/>
                  </a:cubicBezTo>
                  <a:lnTo>
                    <a:pt x="411463" y="2327656"/>
                  </a:lnTo>
                  <a:cubicBezTo>
                    <a:pt x="411463" y="2441278"/>
                    <a:pt x="319354" y="2533387"/>
                    <a:pt x="205731" y="2533387"/>
                  </a:cubicBezTo>
                  <a:lnTo>
                    <a:pt x="205731" y="2533387"/>
                  </a:lnTo>
                  <a:cubicBezTo>
                    <a:pt x="92109" y="2533387"/>
                    <a:pt x="0" y="2441278"/>
                    <a:pt x="0" y="2327656"/>
                  </a:cubicBezTo>
                  <a:lnTo>
                    <a:pt x="0" y="205731"/>
                  </a:lnTo>
                  <a:cubicBezTo>
                    <a:pt x="0" y="92109"/>
                    <a:pt x="92109" y="0"/>
                    <a:pt x="205731" y="0"/>
                  </a:cubicBezTo>
                  <a:close/>
                </a:path>
              </a:pathLst>
            </a:custGeom>
            <a:solidFill>
              <a:srgbClr val="000000">
                <a:alpha val="0"/>
              </a:srgbClr>
            </a:solidFill>
            <a:ln w="28575" cap="rnd">
              <a:solidFill>
                <a:srgbClr val="FFFFFF"/>
              </a:solidFill>
              <a:prstDash val="solid"/>
              <a:round/>
            </a:ln>
          </p:spPr>
        </p:sp>
        <p:sp>
          <p:nvSpPr>
            <p:cNvPr id="11" name="TextBox 11"/>
            <p:cNvSpPr txBox="1"/>
            <p:nvPr/>
          </p:nvSpPr>
          <p:spPr>
            <a:xfrm>
              <a:off x="0" y="-66675"/>
              <a:ext cx="411463" cy="2600062"/>
            </a:xfrm>
            <a:prstGeom prst="rect">
              <a:avLst/>
            </a:prstGeom>
          </p:spPr>
          <p:txBody>
            <a:bodyPr lIns="50800" tIns="50800" rIns="50800" bIns="50800" rtlCol="0" anchor="ctr"/>
            <a:lstStyle/>
            <a:p>
              <a:pPr algn="ctr">
                <a:lnSpc>
                  <a:spcPts val="3151"/>
                </a:lnSpc>
              </a:pPr>
              <a:endParaRPr/>
            </a:p>
          </p:txBody>
        </p:sp>
      </p:grpSp>
      <p:sp>
        <p:nvSpPr>
          <p:cNvPr id="12" name="TextBox 12"/>
          <p:cNvSpPr txBox="1"/>
          <p:nvPr/>
        </p:nvSpPr>
        <p:spPr>
          <a:xfrm>
            <a:off x="803986" y="942975"/>
            <a:ext cx="8090176" cy="8434705"/>
          </a:xfrm>
          <a:prstGeom prst="rect">
            <a:avLst/>
          </a:prstGeom>
        </p:spPr>
        <p:txBody>
          <a:bodyPr lIns="0" tIns="0" rIns="0" bIns="0" rtlCol="0" anchor="t">
            <a:spAutoFit/>
          </a:bodyPr>
          <a:lstStyle/>
          <a:p>
            <a:pPr marL="604518" lvl="1" indent="-302259" algn="just">
              <a:lnSpc>
                <a:spcPts val="3919"/>
              </a:lnSpc>
              <a:buAutoNum type="arabicPeriod"/>
            </a:pPr>
            <a:r>
              <a:rPr lang="en-US" sz="2799">
                <a:solidFill>
                  <a:srgbClr val="FFFFFF"/>
                </a:solidFill>
                <a:latin typeface="Poppins"/>
                <a:ea typeface="Poppins"/>
                <a:cs typeface="Poppins"/>
                <a:sym typeface="Poppins"/>
              </a:rPr>
              <a:t>Volume &amp; Category Imbalance (Count Plot): This plot shows PAYMENT and CASH_OUT dominate total transaction volume, highlighting that traffic is not evenly spread. This visualization confirmed the necessity of One-Hot Encoding to correctly represent these distinct categories in the model's feature set.</a:t>
            </a:r>
          </a:p>
          <a:p>
            <a:pPr marL="604518" lvl="1" indent="-302259" algn="just">
              <a:lnSpc>
                <a:spcPts val="3919"/>
              </a:lnSpc>
              <a:buAutoNum type="arabicPeriod"/>
            </a:pPr>
            <a:r>
              <a:rPr lang="en-US" sz="2799">
                <a:solidFill>
                  <a:srgbClr val="FFFFFF"/>
                </a:solidFill>
                <a:latin typeface="Poppins"/>
                <a:ea typeface="Poppins"/>
                <a:cs typeface="Poppins"/>
                <a:sym typeface="Poppins"/>
              </a:rPr>
              <a:t>Fraud Indicator &amp; Value (Bar Plot): The average transaction value is significantly higher for TRANSFER and CASH_OUT compared to other types. This demonstrates that transaction type is a vital initial risk indicator, as high-value activity is statistically concentrated in the two types most associated with fraud.</a:t>
            </a:r>
          </a:p>
        </p:txBody>
      </p:sp>
      <p:sp>
        <p:nvSpPr>
          <p:cNvPr id="13" name="TextBox 13"/>
          <p:cNvSpPr txBox="1"/>
          <p:nvPr/>
        </p:nvSpPr>
        <p:spPr>
          <a:xfrm rot="-5400000">
            <a:off x="13656050" y="4423302"/>
            <a:ext cx="7244600" cy="923470"/>
          </a:xfrm>
          <a:prstGeom prst="rect">
            <a:avLst/>
          </a:prstGeom>
        </p:spPr>
        <p:txBody>
          <a:bodyPr lIns="0" tIns="0" rIns="0" bIns="0" rtlCol="0" anchor="t">
            <a:spAutoFit/>
          </a:bodyPr>
          <a:lstStyle/>
          <a:p>
            <a:pPr algn="ctr">
              <a:lnSpc>
                <a:spcPts val="6474"/>
              </a:lnSpc>
            </a:pPr>
            <a:r>
              <a:rPr lang="en-US" sz="6347" b="1" spc="-285">
                <a:solidFill>
                  <a:srgbClr val="FFFFFF"/>
                </a:solidFill>
                <a:latin typeface="Telegraf Bold"/>
                <a:ea typeface="Telegraf Bold"/>
                <a:cs typeface="Telegraf Bold"/>
                <a:sym typeface="Telegraf Bold"/>
              </a:rPr>
              <a:t>Data Plots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1821108"/>
            <a:ext cx="12467230" cy="8465892"/>
            <a:chOff x="0" y="0"/>
            <a:chExt cx="1733916" cy="1177418"/>
          </a:xfrm>
        </p:grpSpPr>
        <p:sp>
          <p:nvSpPr>
            <p:cNvPr id="3" name="Freeform 3"/>
            <p:cNvSpPr/>
            <p:nvPr/>
          </p:nvSpPr>
          <p:spPr>
            <a:xfrm>
              <a:off x="0" y="0"/>
              <a:ext cx="1733916" cy="1177418"/>
            </a:xfrm>
            <a:custGeom>
              <a:avLst/>
              <a:gdLst/>
              <a:ahLst/>
              <a:cxnLst/>
              <a:rect l="l" t="t" r="r" b="b"/>
              <a:pathLst>
                <a:path w="1733916" h="1177418">
                  <a:moveTo>
                    <a:pt x="34775" y="0"/>
                  </a:moveTo>
                  <a:lnTo>
                    <a:pt x="1699141" y="0"/>
                  </a:lnTo>
                  <a:cubicBezTo>
                    <a:pt x="1718347" y="0"/>
                    <a:pt x="1733916" y="15569"/>
                    <a:pt x="1733916" y="34775"/>
                  </a:cubicBezTo>
                  <a:lnTo>
                    <a:pt x="1733916" y="1142643"/>
                  </a:lnTo>
                  <a:cubicBezTo>
                    <a:pt x="1733916" y="1151866"/>
                    <a:pt x="1730252" y="1160712"/>
                    <a:pt x="1723731" y="1167233"/>
                  </a:cubicBezTo>
                  <a:cubicBezTo>
                    <a:pt x="1717209" y="1173755"/>
                    <a:pt x="1708364" y="1177418"/>
                    <a:pt x="1699141" y="1177418"/>
                  </a:cubicBezTo>
                  <a:lnTo>
                    <a:pt x="34775" y="1177418"/>
                  </a:lnTo>
                  <a:cubicBezTo>
                    <a:pt x="15569" y="1177418"/>
                    <a:pt x="0" y="1161849"/>
                    <a:pt x="0" y="1142643"/>
                  </a:cubicBezTo>
                  <a:lnTo>
                    <a:pt x="0" y="34775"/>
                  </a:lnTo>
                  <a:cubicBezTo>
                    <a:pt x="0" y="15569"/>
                    <a:pt x="15569" y="0"/>
                    <a:pt x="34775" y="0"/>
                  </a:cubicBezTo>
                  <a:close/>
                </a:path>
              </a:pathLst>
            </a:custGeom>
            <a:blipFill>
              <a:blip r:embed="rId2"/>
              <a:stretch>
                <a:fillRect r="-11092"/>
              </a:stretch>
            </a:blipFill>
          </p:spPr>
        </p:sp>
      </p:grpSp>
      <p:grpSp>
        <p:nvGrpSpPr>
          <p:cNvPr id="4" name="Group 4"/>
          <p:cNvGrpSpPr/>
          <p:nvPr/>
        </p:nvGrpSpPr>
        <p:grpSpPr>
          <a:xfrm>
            <a:off x="802547" y="411885"/>
            <a:ext cx="16682906" cy="1233630"/>
            <a:chOff x="0" y="0"/>
            <a:chExt cx="4393852" cy="324907"/>
          </a:xfrm>
        </p:grpSpPr>
        <p:sp>
          <p:nvSpPr>
            <p:cNvPr id="5" name="Freeform 5"/>
            <p:cNvSpPr/>
            <p:nvPr/>
          </p:nvSpPr>
          <p:spPr>
            <a:xfrm>
              <a:off x="0" y="0"/>
              <a:ext cx="4393852" cy="324907"/>
            </a:xfrm>
            <a:custGeom>
              <a:avLst/>
              <a:gdLst/>
              <a:ahLst/>
              <a:cxnLst/>
              <a:rect l="l" t="t" r="r" b="b"/>
              <a:pathLst>
                <a:path w="4393852" h="324907">
                  <a:moveTo>
                    <a:pt x="21811" y="0"/>
                  </a:moveTo>
                  <a:lnTo>
                    <a:pt x="4372041" y="0"/>
                  </a:lnTo>
                  <a:cubicBezTo>
                    <a:pt x="4384087" y="0"/>
                    <a:pt x="4393852" y="9765"/>
                    <a:pt x="4393852" y="21811"/>
                  </a:cubicBezTo>
                  <a:lnTo>
                    <a:pt x="4393852" y="303096"/>
                  </a:lnTo>
                  <a:cubicBezTo>
                    <a:pt x="4393852" y="315142"/>
                    <a:pt x="4384087" y="324907"/>
                    <a:pt x="4372041" y="324907"/>
                  </a:cubicBezTo>
                  <a:lnTo>
                    <a:pt x="21811" y="324907"/>
                  </a:lnTo>
                  <a:cubicBezTo>
                    <a:pt x="9765" y="324907"/>
                    <a:pt x="0" y="315142"/>
                    <a:pt x="0" y="303096"/>
                  </a:cubicBezTo>
                  <a:lnTo>
                    <a:pt x="0" y="21811"/>
                  </a:lnTo>
                  <a:cubicBezTo>
                    <a:pt x="0" y="9765"/>
                    <a:pt x="9765" y="0"/>
                    <a:pt x="21811" y="0"/>
                  </a:cubicBezTo>
                  <a:close/>
                </a:path>
              </a:pathLst>
            </a:custGeom>
            <a:solidFill>
              <a:srgbClr val="000000">
                <a:alpha val="0"/>
              </a:srgbClr>
            </a:solidFill>
            <a:ln w="28575" cap="rnd">
              <a:solidFill>
                <a:srgbClr val="FFFFFF"/>
              </a:solidFill>
              <a:prstDash val="solid"/>
              <a:round/>
            </a:ln>
          </p:spPr>
        </p:sp>
        <p:sp>
          <p:nvSpPr>
            <p:cNvPr id="6" name="TextBox 6"/>
            <p:cNvSpPr txBox="1"/>
            <p:nvPr/>
          </p:nvSpPr>
          <p:spPr>
            <a:xfrm>
              <a:off x="0" y="-66675"/>
              <a:ext cx="4393852" cy="391582"/>
            </a:xfrm>
            <a:prstGeom prst="rect">
              <a:avLst/>
            </a:prstGeom>
          </p:spPr>
          <p:txBody>
            <a:bodyPr lIns="50800" tIns="50800" rIns="50800" bIns="50800" rtlCol="0" anchor="ctr"/>
            <a:lstStyle/>
            <a:p>
              <a:pPr algn="ctr">
                <a:lnSpc>
                  <a:spcPts val="3151"/>
                </a:lnSpc>
              </a:pPr>
              <a:endParaRPr/>
            </a:p>
          </p:txBody>
        </p:sp>
      </p:grpSp>
      <p:sp>
        <p:nvSpPr>
          <p:cNvPr id="7" name="TextBox 7"/>
          <p:cNvSpPr txBox="1"/>
          <p:nvPr/>
        </p:nvSpPr>
        <p:spPr>
          <a:xfrm>
            <a:off x="952475" y="731938"/>
            <a:ext cx="16383051" cy="622100"/>
          </a:xfrm>
          <a:prstGeom prst="rect">
            <a:avLst/>
          </a:prstGeom>
        </p:spPr>
        <p:txBody>
          <a:bodyPr lIns="0" tIns="0" rIns="0" bIns="0" rtlCol="0" anchor="t">
            <a:spAutoFit/>
          </a:bodyPr>
          <a:lstStyle/>
          <a:p>
            <a:pPr algn="ctr">
              <a:lnSpc>
                <a:spcPts val="4382"/>
              </a:lnSpc>
            </a:pPr>
            <a:r>
              <a:rPr lang="en-US" sz="4296" b="1" spc="-193">
                <a:solidFill>
                  <a:srgbClr val="FFFFFF"/>
                </a:solidFill>
                <a:latin typeface="Telegraf Bold"/>
                <a:ea typeface="Telegraf Bold"/>
                <a:cs typeface="Telegraf Bold"/>
                <a:sym typeface="Telegraf Bold"/>
              </a:rPr>
              <a:t>HEAT MAP - Correlations between Columns</a:t>
            </a:r>
          </a:p>
        </p:txBody>
      </p:sp>
      <p:grpSp>
        <p:nvGrpSpPr>
          <p:cNvPr id="8" name="Group 8"/>
          <p:cNvGrpSpPr/>
          <p:nvPr/>
        </p:nvGrpSpPr>
        <p:grpSpPr>
          <a:xfrm>
            <a:off x="12884517" y="1821108"/>
            <a:ext cx="4932227" cy="8314250"/>
            <a:chOff x="0" y="0"/>
            <a:chExt cx="1299023" cy="2189761"/>
          </a:xfrm>
        </p:grpSpPr>
        <p:sp>
          <p:nvSpPr>
            <p:cNvPr id="9" name="Freeform 9"/>
            <p:cNvSpPr/>
            <p:nvPr/>
          </p:nvSpPr>
          <p:spPr>
            <a:xfrm>
              <a:off x="0" y="0"/>
              <a:ext cx="1299023" cy="2189761"/>
            </a:xfrm>
            <a:custGeom>
              <a:avLst/>
              <a:gdLst/>
              <a:ahLst/>
              <a:cxnLst/>
              <a:rect l="l" t="t" r="r" b="b"/>
              <a:pathLst>
                <a:path w="1299023" h="2189761">
                  <a:moveTo>
                    <a:pt x="87901" y="0"/>
                  </a:moveTo>
                  <a:lnTo>
                    <a:pt x="1211122" y="0"/>
                  </a:lnTo>
                  <a:cubicBezTo>
                    <a:pt x="1234435" y="0"/>
                    <a:pt x="1256793" y="9261"/>
                    <a:pt x="1273277" y="25746"/>
                  </a:cubicBezTo>
                  <a:cubicBezTo>
                    <a:pt x="1289762" y="42230"/>
                    <a:pt x="1299023" y="64588"/>
                    <a:pt x="1299023" y="87901"/>
                  </a:cubicBezTo>
                  <a:lnTo>
                    <a:pt x="1299023" y="2101860"/>
                  </a:lnTo>
                  <a:cubicBezTo>
                    <a:pt x="1299023" y="2125173"/>
                    <a:pt x="1289762" y="2147531"/>
                    <a:pt x="1273277" y="2164016"/>
                  </a:cubicBezTo>
                  <a:cubicBezTo>
                    <a:pt x="1256793" y="2180500"/>
                    <a:pt x="1234435" y="2189761"/>
                    <a:pt x="1211122" y="2189761"/>
                  </a:cubicBezTo>
                  <a:lnTo>
                    <a:pt x="87901" y="2189761"/>
                  </a:lnTo>
                  <a:cubicBezTo>
                    <a:pt x="64588" y="2189761"/>
                    <a:pt x="42230" y="2180500"/>
                    <a:pt x="25746" y="2164016"/>
                  </a:cubicBezTo>
                  <a:cubicBezTo>
                    <a:pt x="9261" y="2147531"/>
                    <a:pt x="0" y="2125173"/>
                    <a:pt x="0" y="2101860"/>
                  </a:cubicBezTo>
                  <a:lnTo>
                    <a:pt x="0" y="87901"/>
                  </a:lnTo>
                  <a:cubicBezTo>
                    <a:pt x="0" y="64588"/>
                    <a:pt x="9261" y="42230"/>
                    <a:pt x="25746" y="25746"/>
                  </a:cubicBezTo>
                  <a:cubicBezTo>
                    <a:pt x="42230" y="9261"/>
                    <a:pt x="64588" y="0"/>
                    <a:pt x="87901" y="0"/>
                  </a:cubicBezTo>
                  <a:close/>
                </a:path>
              </a:pathLst>
            </a:custGeom>
            <a:solidFill>
              <a:srgbClr val="000000">
                <a:alpha val="0"/>
              </a:srgbClr>
            </a:solidFill>
            <a:ln w="28575" cap="rnd">
              <a:solidFill>
                <a:srgbClr val="FFFFFF"/>
              </a:solidFill>
              <a:prstDash val="solid"/>
              <a:round/>
            </a:ln>
          </p:spPr>
        </p:sp>
        <p:sp>
          <p:nvSpPr>
            <p:cNvPr id="10" name="TextBox 10"/>
            <p:cNvSpPr txBox="1"/>
            <p:nvPr/>
          </p:nvSpPr>
          <p:spPr>
            <a:xfrm>
              <a:off x="0" y="-66675"/>
              <a:ext cx="1299023" cy="2256436"/>
            </a:xfrm>
            <a:prstGeom prst="rect">
              <a:avLst/>
            </a:prstGeom>
          </p:spPr>
          <p:txBody>
            <a:bodyPr lIns="50800" tIns="50800" rIns="50800" bIns="50800" rtlCol="0" anchor="ctr"/>
            <a:lstStyle/>
            <a:p>
              <a:pPr algn="ctr">
                <a:lnSpc>
                  <a:spcPts val="3151"/>
                </a:lnSpc>
              </a:pPr>
              <a:endParaRPr/>
            </a:p>
          </p:txBody>
        </p:sp>
      </p:grpSp>
      <p:sp>
        <p:nvSpPr>
          <p:cNvPr id="11" name="TextBox 11"/>
          <p:cNvSpPr txBox="1"/>
          <p:nvPr/>
        </p:nvSpPr>
        <p:spPr>
          <a:xfrm>
            <a:off x="13140711" y="1861528"/>
            <a:ext cx="4419839" cy="7804785"/>
          </a:xfrm>
          <a:prstGeom prst="rect">
            <a:avLst/>
          </a:prstGeom>
        </p:spPr>
        <p:txBody>
          <a:bodyPr lIns="0" tIns="0" rIns="0" bIns="0" rtlCol="0" anchor="t">
            <a:spAutoFit/>
          </a:bodyPr>
          <a:lstStyle/>
          <a:p>
            <a:pPr algn="just">
              <a:lnSpc>
                <a:spcPts val="2939"/>
              </a:lnSpc>
            </a:pPr>
            <a:r>
              <a:rPr lang="en-US" sz="2099">
                <a:solidFill>
                  <a:srgbClr val="FFFFFF"/>
                </a:solidFill>
                <a:latin typeface="Poppins"/>
                <a:ea typeface="Poppins"/>
                <a:cs typeface="Poppins"/>
                <a:sym typeface="Poppins"/>
              </a:rPr>
              <a:t>This heatmap visually summarizes the linear relationships between all input features and, most importantly, with our target variable, isFraud. The matrix confirms that there are no simple, strong linear predictors of fraud (all correlations with isFraud are near zero, typically 0.00 to 0.07), validating our approach to use complex, non-linear models like XGBoost and Random Forest. However, it successfully identifies strong internal relationships, such as the high correlation between oldbalanceDest and newbalanceDest, ensuring we monitor for potential feature redundancy and stability in our financial data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803986" y="295717"/>
            <a:ext cx="6301476" cy="3931593"/>
            <a:chOff x="0" y="0"/>
            <a:chExt cx="1659648" cy="1035481"/>
          </a:xfrm>
        </p:grpSpPr>
        <p:sp>
          <p:nvSpPr>
            <p:cNvPr id="3" name="Freeform 3"/>
            <p:cNvSpPr/>
            <p:nvPr/>
          </p:nvSpPr>
          <p:spPr>
            <a:xfrm>
              <a:off x="0" y="0"/>
              <a:ext cx="1659648" cy="1035481"/>
            </a:xfrm>
            <a:custGeom>
              <a:avLst/>
              <a:gdLst/>
              <a:ahLst/>
              <a:cxnLst/>
              <a:rect l="l" t="t" r="r" b="b"/>
              <a:pathLst>
                <a:path w="1659648" h="1035481">
                  <a:moveTo>
                    <a:pt x="68801" y="0"/>
                  </a:moveTo>
                  <a:lnTo>
                    <a:pt x="1590847" y="0"/>
                  </a:lnTo>
                  <a:cubicBezTo>
                    <a:pt x="1609094" y="0"/>
                    <a:pt x="1626594" y="7249"/>
                    <a:pt x="1639497" y="20151"/>
                  </a:cubicBezTo>
                  <a:cubicBezTo>
                    <a:pt x="1652399" y="33054"/>
                    <a:pt x="1659648" y="50554"/>
                    <a:pt x="1659648" y="68801"/>
                  </a:cubicBezTo>
                  <a:lnTo>
                    <a:pt x="1659648" y="966680"/>
                  </a:lnTo>
                  <a:cubicBezTo>
                    <a:pt x="1659648" y="984927"/>
                    <a:pt x="1652399" y="1002427"/>
                    <a:pt x="1639497" y="1015330"/>
                  </a:cubicBezTo>
                  <a:cubicBezTo>
                    <a:pt x="1626594" y="1028232"/>
                    <a:pt x="1609094" y="1035481"/>
                    <a:pt x="1590847" y="1035481"/>
                  </a:cubicBezTo>
                  <a:lnTo>
                    <a:pt x="68801" y="1035481"/>
                  </a:lnTo>
                  <a:cubicBezTo>
                    <a:pt x="50554" y="1035481"/>
                    <a:pt x="33054" y="1028232"/>
                    <a:pt x="20151" y="1015330"/>
                  </a:cubicBezTo>
                  <a:cubicBezTo>
                    <a:pt x="7249" y="1002427"/>
                    <a:pt x="0" y="984927"/>
                    <a:pt x="0" y="966680"/>
                  </a:cubicBezTo>
                  <a:lnTo>
                    <a:pt x="0" y="68801"/>
                  </a:lnTo>
                  <a:cubicBezTo>
                    <a:pt x="0" y="50554"/>
                    <a:pt x="7249" y="33054"/>
                    <a:pt x="20151" y="20151"/>
                  </a:cubicBezTo>
                  <a:cubicBezTo>
                    <a:pt x="33054" y="7249"/>
                    <a:pt x="50554" y="0"/>
                    <a:pt x="68801" y="0"/>
                  </a:cubicBezTo>
                  <a:close/>
                </a:path>
              </a:pathLst>
            </a:custGeom>
            <a:gradFill rotWithShape="1">
              <a:gsLst>
                <a:gs pos="0">
                  <a:srgbClr val="000000">
                    <a:alpha val="78000"/>
                  </a:srgbClr>
                </a:gs>
                <a:gs pos="100000">
                  <a:srgbClr val="DDDDDD">
                    <a:alpha val="14820"/>
                  </a:srgbClr>
                </a:gs>
              </a:gsLst>
              <a:lin ang="2700000"/>
            </a:gradFill>
          </p:spPr>
        </p:sp>
        <p:sp>
          <p:nvSpPr>
            <p:cNvPr id="4" name="TextBox 4"/>
            <p:cNvSpPr txBox="1"/>
            <p:nvPr/>
          </p:nvSpPr>
          <p:spPr>
            <a:xfrm>
              <a:off x="0" y="-66675"/>
              <a:ext cx="1659648" cy="1102156"/>
            </a:xfrm>
            <a:prstGeom prst="rect">
              <a:avLst/>
            </a:prstGeom>
          </p:spPr>
          <p:txBody>
            <a:bodyPr lIns="50800" tIns="50800" rIns="50800" bIns="50800" rtlCol="0" anchor="ctr"/>
            <a:lstStyle/>
            <a:p>
              <a:pPr algn="ctr">
                <a:lnSpc>
                  <a:spcPts val="3151"/>
                </a:lnSpc>
              </a:pPr>
              <a:endParaRPr/>
            </a:p>
          </p:txBody>
        </p:sp>
      </p:grpSp>
      <p:grpSp>
        <p:nvGrpSpPr>
          <p:cNvPr id="5" name="Group 5"/>
          <p:cNvGrpSpPr/>
          <p:nvPr/>
        </p:nvGrpSpPr>
        <p:grpSpPr>
          <a:xfrm>
            <a:off x="7897344" y="336108"/>
            <a:ext cx="9783203" cy="4661941"/>
            <a:chOff x="0" y="0"/>
            <a:chExt cx="2576646" cy="1227836"/>
          </a:xfrm>
        </p:grpSpPr>
        <p:sp>
          <p:nvSpPr>
            <p:cNvPr id="6" name="Freeform 6"/>
            <p:cNvSpPr/>
            <p:nvPr/>
          </p:nvSpPr>
          <p:spPr>
            <a:xfrm>
              <a:off x="0" y="0"/>
              <a:ext cx="2576646" cy="1227836"/>
            </a:xfrm>
            <a:custGeom>
              <a:avLst/>
              <a:gdLst/>
              <a:ahLst/>
              <a:cxnLst/>
              <a:rect l="l" t="t" r="r" b="b"/>
              <a:pathLst>
                <a:path w="2576646" h="1227836">
                  <a:moveTo>
                    <a:pt x="44315" y="0"/>
                  </a:moveTo>
                  <a:lnTo>
                    <a:pt x="2532331" y="0"/>
                  </a:lnTo>
                  <a:cubicBezTo>
                    <a:pt x="2556806" y="0"/>
                    <a:pt x="2576646" y="19841"/>
                    <a:pt x="2576646" y="44315"/>
                  </a:cubicBezTo>
                  <a:lnTo>
                    <a:pt x="2576646" y="1183521"/>
                  </a:lnTo>
                  <a:cubicBezTo>
                    <a:pt x="2576646" y="1195274"/>
                    <a:pt x="2571977" y="1206546"/>
                    <a:pt x="2563667" y="1214857"/>
                  </a:cubicBezTo>
                  <a:cubicBezTo>
                    <a:pt x="2555356" y="1223167"/>
                    <a:pt x="2544084" y="1227836"/>
                    <a:pt x="2532331" y="1227836"/>
                  </a:cubicBezTo>
                  <a:lnTo>
                    <a:pt x="44315" y="1227836"/>
                  </a:lnTo>
                  <a:cubicBezTo>
                    <a:pt x="32562" y="1227836"/>
                    <a:pt x="21290" y="1223167"/>
                    <a:pt x="12980" y="1214857"/>
                  </a:cubicBezTo>
                  <a:cubicBezTo>
                    <a:pt x="4669" y="1206546"/>
                    <a:pt x="0" y="1195274"/>
                    <a:pt x="0" y="1183521"/>
                  </a:cubicBezTo>
                  <a:lnTo>
                    <a:pt x="0" y="44315"/>
                  </a:lnTo>
                  <a:cubicBezTo>
                    <a:pt x="0" y="32562"/>
                    <a:pt x="4669" y="21290"/>
                    <a:pt x="12980" y="12980"/>
                  </a:cubicBezTo>
                  <a:cubicBezTo>
                    <a:pt x="21290" y="4669"/>
                    <a:pt x="32562" y="0"/>
                    <a:pt x="44315"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7" name="TextBox 7"/>
            <p:cNvSpPr txBox="1"/>
            <p:nvPr/>
          </p:nvSpPr>
          <p:spPr>
            <a:xfrm>
              <a:off x="0" y="-66675"/>
              <a:ext cx="2576646" cy="1294511"/>
            </a:xfrm>
            <a:prstGeom prst="rect">
              <a:avLst/>
            </a:prstGeom>
          </p:spPr>
          <p:txBody>
            <a:bodyPr lIns="50800" tIns="50800" rIns="50800" bIns="50800" rtlCol="0" anchor="ctr"/>
            <a:lstStyle/>
            <a:p>
              <a:pPr algn="ctr">
                <a:lnSpc>
                  <a:spcPts val="3151"/>
                </a:lnSpc>
              </a:pPr>
              <a:endParaRPr/>
            </a:p>
          </p:txBody>
        </p:sp>
      </p:grpSp>
      <p:graphicFrame>
        <p:nvGraphicFramePr>
          <p:cNvPr id="8" name="Table 8"/>
          <p:cNvGraphicFramePr>
            <a:graphicFrameLocks noGrp="1"/>
          </p:cNvGraphicFramePr>
          <p:nvPr/>
        </p:nvGraphicFramePr>
        <p:xfrm>
          <a:off x="1691535" y="571093"/>
          <a:ext cx="4526377" cy="3380841"/>
        </p:xfrm>
        <a:graphic>
          <a:graphicData uri="http://schemas.openxmlformats.org/drawingml/2006/table">
            <a:tbl>
              <a:tblPr/>
              <a:tblGrid>
                <a:gridCol w="1806741">
                  <a:extLst>
                    <a:ext uri="{9D8B030D-6E8A-4147-A177-3AD203B41FA5}">
                      <a16:colId xmlns:a16="http://schemas.microsoft.com/office/drawing/2014/main" val="20000"/>
                    </a:ext>
                  </a:extLst>
                </a:gridCol>
                <a:gridCol w="2719636">
                  <a:extLst>
                    <a:ext uri="{9D8B030D-6E8A-4147-A177-3AD203B41FA5}">
                      <a16:colId xmlns:a16="http://schemas.microsoft.com/office/drawing/2014/main" val="20001"/>
                    </a:ext>
                  </a:extLst>
                </a:gridCol>
              </a:tblGrid>
              <a:tr h="1126947">
                <a:tc>
                  <a:txBody>
                    <a:bodyPr/>
                    <a:lstStyle/>
                    <a:p>
                      <a:pPr algn="ctr">
                        <a:lnSpc>
                          <a:spcPts val="3640"/>
                        </a:lnSpc>
                        <a:defRPr/>
                      </a:pPr>
                      <a:r>
                        <a:rPr lang="en-US" sz="2600" b="1">
                          <a:solidFill>
                            <a:srgbClr val="FFFFFF"/>
                          </a:solidFill>
                          <a:latin typeface="Poppins Bold"/>
                          <a:ea typeface="Poppins Bold"/>
                          <a:cs typeface="Poppins Bold"/>
                          <a:sym typeface="Poppins Bold"/>
                        </a:rPr>
                        <a:t>isFraud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640"/>
                        </a:lnSpc>
                        <a:defRPr/>
                      </a:pPr>
                      <a:r>
                        <a:rPr lang="en-US" sz="2600" b="1">
                          <a:solidFill>
                            <a:srgbClr val="FFFFFF"/>
                          </a:solidFill>
                          <a:latin typeface="Poppins Bold"/>
                          <a:ea typeface="Poppins Bold"/>
                          <a:cs typeface="Poppins Bold"/>
                          <a:sym typeface="Poppins Bold"/>
                        </a:rPr>
                        <a:t>Count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126947">
                <a:tc>
                  <a:txBody>
                    <a:bodyPr/>
                    <a:lstStyle/>
                    <a:p>
                      <a:pPr algn="ctr">
                        <a:lnSpc>
                          <a:spcPts val="3640"/>
                        </a:lnSpc>
                        <a:defRPr/>
                      </a:pPr>
                      <a:r>
                        <a:rPr lang="en-US" sz="2600">
                          <a:solidFill>
                            <a:srgbClr val="FFFFFF"/>
                          </a:solidFill>
                          <a:latin typeface="Poppins"/>
                          <a:ea typeface="Poppins"/>
                          <a:cs typeface="Poppins"/>
                          <a:sym typeface="Poppins"/>
                        </a:rPr>
                        <a:t>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640"/>
                        </a:lnSpc>
                        <a:defRPr/>
                      </a:pPr>
                      <a:r>
                        <a:rPr lang="en-US" sz="2600">
                          <a:solidFill>
                            <a:srgbClr val="FFFFFF"/>
                          </a:solidFill>
                          <a:latin typeface="Poppins"/>
                          <a:ea typeface="Poppins"/>
                          <a:cs typeface="Poppins"/>
                          <a:sym typeface="Poppins"/>
                        </a:rPr>
                        <a:t>6354407</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126947">
                <a:tc>
                  <a:txBody>
                    <a:bodyPr/>
                    <a:lstStyle/>
                    <a:p>
                      <a:pPr algn="ctr">
                        <a:lnSpc>
                          <a:spcPts val="3640"/>
                        </a:lnSpc>
                        <a:defRPr/>
                      </a:pPr>
                      <a:r>
                        <a:rPr lang="en-US" sz="2600">
                          <a:solidFill>
                            <a:srgbClr val="FFFFFF"/>
                          </a:solidFill>
                          <a:latin typeface="Poppins"/>
                          <a:ea typeface="Poppins"/>
                          <a:cs typeface="Poppins"/>
                          <a:sym typeface="Poppins"/>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640"/>
                        </a:lnSpc>
                        <a:defRPr/>
                      </a:pPr>
                      <a:r>
                        <a:rPr lang="en-US" sz="2600">
                          <a:solidFill>
                            <a:srgbClr val="FFFFFF"/>
                          </a:solidFill>
                          <a:latin typeface="Poppins"/>
                          <a:ea typeface="Poppins"/>
                          <a:cs typeface="Poppins"/>
                          <a:sym typeface="Poppins"/>
                        </a:rPr>
                        <a:t>8213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TextBox 9"/>
          <p:cNvSpPr txBox="1"/>
          <p:nvPr/>
        </p:nvSpPr>
        <p:spPr>
          <a:xfrm>
            <a:off x="8460731" y="1698537"/>
            <a:ext cx="8269119" cy="3088640"/>
          </a:xfrm>
          <a:prstGeom prst="rect">
            <a:avLst/>
          </a:prstGeom>
        </p:spPr>
        <p:txBody>
          <a:bodyPr lIns="0" tIns="0" rIns="0" bIns="0" rtlCol="0" anchor="t">
            <a:spAutoFit/>
          </a:bodyPr>
          <a:lstStyle/>
          <a:p>
            <a:pPr algn="just">
              <a:lnSpc>
                <a:spcPts val="4059"/>
              </a:lnSpc>
            </a:pPr>
            <a:r>
              <a:rPr lang="en-US" sz="2899">
                <a:solidFill>
                  <a:srgbClr val="FFFFFF"/>
                </a:solidFill>
                <a:latin typeface="Poppins"/>
                <a:ea typeface="Poppins"/>
                <a:cs typeface="Poppins"/>
                <a:sym typeface="Poppins"/>
              </a:rPr>
              <a:t>The Imbalance Problem: We had </a:t>
            </a:r>
            <a:r>
              <a:rPr lang="en-US" sz="2899" b="1">
                <a:solidFill>
                  <a:srgbClr val="FFFFFF"/>
                </a:solidFill>
                <a:latin typeface="Poppins Bold"/>
                <a:ea typeface="Poppins Bold"/>
                <a:cs typeface="Poppins Bold"/>
                <a:sym typeface="Poppins Bold"/>
              </a:rPr>
              <a:t>773</a:t>
            </a:r>
            <a:r>
              <a:rPr lang="en-US" sz="2899">
                <a:solidFill>
                  <a:srgbClr val="FFFFFF"/>
                </a:solidFill>
                <a:latin typeface="Poppins"/>
                <a:ea typeface="Poppins"/>
                <a:cs typeface="Poppins"/>
                <a:sym typeface="Poppins"/>
              </a:rPr>
              <a:t> non-fraud cases for every </a:t>
            </a:r>
            <a:r>
              <a:rPr lang="en-US" sz="2899" b="1">
                <a:solidFill>
                  <a:srgbClr val="FFFFFF"/>
                </a:solidFill>
                <a:latin typeface="Poppins Bold"/>
                <a:ea typeface="Poppins Bold"/>
                <a:cs typeface="Poppins Bold"/>
                <a:sym typeface="Poppins Bold"/>
              </a:rPr>
              <a:t>1 </a:t>
            </a:r>
            <a:r>
              <a:rPr lang="en-US" sz="2899">
                <a:solidFill>
                  <a:srgbClr val="FFFFFF"/>
                </a:solidFill>
                <a:latin typeface="Poppins"/>
                <a:ea typeface="Poppins"/>
                <a:cs typeface="Poppins"/>
                <a:sym typeface="Poppins"/>
              </a:rPr>
              <a:t>fraud case. A standard model would ignore the rare fraud class, leading to terrible Recall (missed fraud cases). This required a mandatory fix to make the detector functional. </a:t>
            </a:r>
          </a:p>
        </p:txBody>
      </p:sp>
      <p:sp>
        <p:nvSpPr>
          <p:cNvPr id="10" name="TextBox 10"/>
          <p:cNvSpPr txBox="1"/>
          <p:nvPr/>
        </p:nvSpPr>
        <p:spPr>
          <a:xfrm>
            <a:off x="8460731" y="628243"/>
            <a:ext cx="8656428" cy="1146494"/>
          </a:xfrm>
          <a:prstGeom prst="rect">
            <a:avLst/>
          </a:prstGeom>
        </p:spPr>
        <p:txBody>
          <a:bodyPr lIns="0" tIns="0" rIns="0" bIns="0" rtlCol="0" anchor="t">
            <a:spAutoFit/>
          </a:bodyPr>
          <a:lstStyle/>
          <a:p>
            <a:pPr algn="l">
              <a:lnSpc>
                <a:spcPts val="8077"/>
              </a:lnSpc>
            </a:pPr>
            <a:r>
              <a:rPr lang="en-US" sz="7919" b="1" spc="-356">
                <a:solidFill>
                  <a:srgbClr val="FFFFFF"/>
                </a:solidFill>
                <a:latin typeface="Telegraf Bold"/>
                <a:ea typeface="Telegraf Bold"/>
                <a:cs typeface="Telegraf Bold"/>
                <a:sym typeface="Telegraf Bold"/>
              </a:rPr>
              <a:t>Class Imbalance!</a:t>
            </a:r>
          </a:p>
        </p:txBody>
      </p:sp>
      <p:grpSp>
        <p:nvGrpSpPr>
          <p:cNvPr id="11" name="Group 11"/>
          <p:cNvGrpSpPr/>
          <p:nvPr/>
        </p:nvGrpSpPr>
        <p:grpSpPr>
          <a:xfrm>
            <a:off x="803986" y="5143500"/>
            <a:ext cx="16876561" cy="4969081"/>
            <a:chOff x="0" y="0"/>
            <a:chExt cx="4444856" cy="1308729"/>
          </a:xfrm>
        </p:grpSpPr>
        <p:sp>
          <p:nvSpPr>
            <p:cNvPr id="12" name="Freeform 12"/>
            <p:cNvSpPr/>
            <p:nvPr/>
          </p:nvSpPr>
          <p:spPr>
            <a:xfrm>
              <a:off x="0" y="0"/>
              <a:ext cx="4444855" cy="1308729"/>
            </a:xfrm>
            <a:custGeom>
              <a:avLst/>
              <a:gdLst/>
              <a:ahLst/>
              <a:cxnLst/>
              <a:rect l="l" t="t" r="r" b="b"/>
              <a:pathLst>
                <a:path w="4444855" h="1308729">
                  <a:moveTo>
                    <a:pt x="25689" y="0"/>
                  </a:moveTo>
                  <a:lnTo>
                    <a:pt x="4419166" y="0"/>
                  </a:lnTo>
                  <a:cubicBezTo>
                    <a:pt x="4433354" y="0"/>
                    <a:pt x="4444855" y="11502"/>
                    <a:pt x="4444855" y="25689"/>
                  </a:cubicBezTo>
                  <a:lnTo>
                    <a:pt x="4444855" y="1283040"/>
                  </a:lnTo>
                  <a:cubicBezTo>
                    <a:pt x="4444855" y="1297228"/>
                    <a:pt x="4433354" y="1308729"/>
                    <a:pt x="4419166" y="1308729"/>
                  </a:cubicBezTo>
                  <a:lnTo>
                    <a:pt x="25689" y="1308729"/>
                  </a:lnTo>
                  <a:cubicBezTo>
                    <a:pt x="11502" y="1308729"/>
                    <a:pt x="0" y="1297228"/>
                    <a:pt x="0" y="1283040"/>
                  </a:cubicBezTo>
                  <a:lnTo>
                    <a:pt x="0" y="25689"/>
                  </a:lnTo>
                  <a:cubicBezTo>
                    <a:pt x="0" y="11502"/>
                    <a:pt x="11502" y="0"/>
                    <a:pt x="25689"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13" name="TextBox 13"/>
            <p:cNvSpPr txBox="1"/>
            <p:nvPr/>
          </p:nvSpPr>
          <p:spPr>
            <a:xfrm>
              <a:off x="0" y="-66675"/>
              <a:ext cx="4444856" cy="1375404"/>
            </a:xfrm>
            <a:prstGeom prst="rect">
              <a:avLst/>
            </a:prstGeom>
          </p:spPr>
          <p:txBody>
            <a:bodyPr lIns="50800" tIns="50800" rIns="50800" bIns="50800" rtlCol="0" anchor="ctr"/>
            <a:lstStyle/>
            <a:p>
              <a:pPr algn="ctr">
                <a:lnSpc>
                  <a:spcPts val="3151"/>
                </a:lnSpc>
              </a:pPr>
              <a:endParaRPr/>
            </a:p>
          </p:txBody>
        </p:sp>
      </p:grpSp>
      <p:sp>
        <p:nvSpPr>
          <p:cNvPr id="14" name="TextBox 14"/>
          <p:cNvSpPr txBox="1"/>
          <p:nvPr/>
        </p:nvSpPr>
        <p:spPr>
          <a:xfrm>
            <a:off x="1028700" y="6364140"/>
            <a:ext cx="16313174" cy="3602990"/>
          </a:xfrm>
          <a:prstGeom prst="rect">
            <a:avLst/>
          </a:prstGeom>
        </p:spPr>
        <p:txBody>
          <a:bodyPr lIns="0" tIns="0" rIns="0" bIns="0" rtlCol="0" anchor="t">
            <a:spAutoFit/>
          </a:bodyPr>
          <a:lstStyle/>
          <a:p>
            <a:pPr algn="just">
              <a:lnSpc>
                <a:spcPts val="4059"/>
              </a:lnSpc>
            </a:pPr>
            <a:r>
              <a:rPr lang="en-US" sz="2899">
                <a:solidFill>
                  <a:srgbClr val="FFFFFF"/>
                </a:solidFill>
                <a:latin typeface="Poppins"/>
                <a:ea typeface="Poppins"/>
                <a:cs typeface="Poppins"/>
                <a:sym typeface="Poppins"/>
              </a:rPr>
              <a:t>XGBoost is the ideal solution for our class imbalance problem due to its sequential, error-correcting architecture and its specialized parameter control. Architecturally, XGBoost builds trees that constantly correct the mistakes of the previous trees, naturally forcing it to focus on the difficult-to-classify Fraud cases. Critically, we control this focus using the </a:t>
            </a:r>
            <a:r>
              <a:rPr lang="en-US" sz="2899" b="1">
                <a:solidFill>
                  <a:srgbClr val="FFFFFF"/>
                </a:solidFill>
                <a:latin typeface="Poppins Bold"/>
                <a:ea typeface="Poppins Bold"/>
                <a:cs typeface="Poppins Bold"/>
                <a:sym typeface="Poppins Bold"/>
              </a:rPr>
              <a:t>scale_pos_weight </a:t>
            </a:r>
            <a:r>
              <a:rPr lang="en-US" sz="2899">
                <a:solidFill>
                  <a:srgbClr val="FFFFFF"/>
                </a:solidFill>
                <a:latin typeface="Poppins"/>
                <a:ea typeface="Poppins"/>
                <a:cs typeface="Poppins"/>
                <a:sym typeface="Poppins"/>
              </a:rPr>
              <a:t>= </a:t>
            </a:r>
            <a:r>
              <a:rPr lang="en-US" sz="2899" b="1">
                <a:solidFill>
                  <a:srgbClr val="FFFFFF"/>
                </a:solidFill>
                <a:latin typeface="Poppins Bold"/>
                <a:ea typeface="Poppins Bold"/>
                <a:cs typeface="Poppins Bold"/>
                <a:sym typeface="Poppins Bold"/>
              </a:rPr>
              <a:t>773 </a:t>
            </a:r>
            <a:r>
              <a:rPr lang="en-US" sz="2899">
                <a:solidFill>
                  <a:srgbClr val="FFFFFF"/>
                </a:solidFill>
                <a:latin typeface="Poppins"/>
                <a:ea typeface="Poppins"/>
                <a:cs typeface="Poppins"/>
                <a:sym typeface="Poppins"/>
              </a:rPr>
              <a:t>parameter, which </a:t>
            </a:r>
            <a:r>
              <a:rPr lang="en-US" sz="2899" b="1">
                <a:solidFill>
                  <a:srgbClr val="FFFFFF"/>
                </a:solidFill>
                <a:latin typeface="Poppins Bold"/>
                <a:ea typeface="Poppins Bold"/>
                <a:cs typeface="Poppins Bold"/>
                <a:sym typeface="Poppins Bold"/>
              </a:rPr>
              <a:t>773 </a:t>
            </a:r>
            <a:r>
              <a:rPr lang="en-US" sz="2899">
                <a:solidFill>
                  <a:srgbClr val="FFFFFF"/>
                </a:solidFill>
                <a:latin typeface="Poppins"/>
                <a:ea typeface="Poppins"/>
                <a:cs typeface="Poppins"/>
                <a:sym typeface="Poppins"/>
              </a:rPr>
              <a:t>increases the penalty for missing a fraud transaction, thereby guaranteeing high Recall and transforming the model into a reliable fraud detector. </a:t>
            </a:r>
          </a:p>
        </p:txBody>
      </p:sp>
      <p:sp>
        <p:nvSpPr>
          <p:cNvPr id="15" name="TextBox 15"/>
          <p:cNvSpPr txBox="1"/>
          <p:nvPr/>
        </p:nvSpPr>
        <p:spPr>
          <a:xfrm>
            <a:off x="1028700" y="5293846"/>
            <a:ext cx="8656428" cy="1146494"/>
          </a:xfrm>
          <a:prstGeom prst="rect">
            <a:avLst/>
          </a:prstGeom>
        </p:spPr>
        <p:txBody>
          <a:bodyPr lIns="0" tIns="0" rIns="0" bIns="0" rtlCol="0" anchor="t">
            <a:spAutoFit/>
          </a:bodyPr>
          <a:lstStyle/>
          <a:p>
            <a:pPr algn="l">
              <a:lnSpc>
                <a:spcPts val="8077"/>
              </a:lnSpc>
            </a:pPr>
            <a:r>
              <a:rPr lang="en-US" sz="7919" b="1" spc="-356">
                <a:solidFill>
                  <a:srgbClr val="FFFFFF"/>
                </a:solidFill>
                <a:latin typeface="Telegraf Bold"/>
                <a:ea typeface="Telegraf Bold"/>
                <a:cs typeface="Telegraf Bold"/>
                <a:sym typeface="Telegraf Bold"/>
              </a:rPr>
              <a:t>Solution : XGBoost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296111" y="349538"/>
            <a:ext cx="17695777" cy="9587924"/>
            <a:chOff x="0" y="0"/>
            <a:chExt cx="4660616" cy="2525215"/>
          </a:xfrm>
        </p:grpSpPr>
        <p:sp>
          <p:nvSpPr>
            <p:cNvPr id="3" name="Freeform 3"/>
            <p:cNvSpPr/>
            <p:nvPr/>
          </p:nvSpPr>
          <p:spPr>
            <a:xfrm>
              <a:off x="0" y="0"/>
              <a:ext cx="4660616" cy="2525215"/>
            </a:xfrm>
            <a:custGeom>
              <a:avLst/>
              <a:gdLst/>
              <a:ahLst/>
              <a:cxnLst/>
              <a:rect l="l" t="t" r="r" b="b"/>
              <a:pathLst>
                <a:path w="4660616" h="2525215">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id="4" name="TextBox 4"/>
            <p:cNvSpPr txBox="1"/>
            <p:nvPr/>
          </p:nvSpPr>
          <p:spPr>
            <a:xfrm>
              <a:off x="0" y="-38100"/>
              <a:ext cx="4660616" cy="25633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819952" y="2465442"/>
            <a:ext cx="9883217" cy="7219042"/>
            <a:chOff x="0" y="0"/>
            <a:chExt cx="2602987" cy="1901312"/>
          </a:xfrm>
        </p:grpSpPr>
        <p:sp>
          <p:nvSpPr>
            <p:cNvPr id="6" name="Freeform 6"/>
            <p:cNvSpPr/>
            <p:nvPr/>
          </p:nvSpPr>
          <p:spPr>
            <a:xfrm>
              <a:off x="0" y="0"/>
              <a:ext cx="2602987" cy="1901311"/>
            </a:xfrm>
            <a:custGeom>
              <a:avLst/>
              <a:gdLst/>
              <a:ahLst/>
              <a:cxnLst/>
              <a:rect l="l" t="t" r="r" b="b"/>
              <a:pathLst>
                <a:path w="2602987" h="1901311">
                  <a:moveTo>
                    <a:pt x="43867" y="0"/>
                  </a:moveTo>
                  <a:lnTo>
                    <a:pt x="2559120" y="0"/>
                  </a:lnTo>
                  <a:cubicBezTo>
                    <a:pt x="2570754" y="0"/>
                    <a:pt x="2581912" y="4622"/>
                    <a:pt x="2590139" y="12848"/>
                  </a:cubicBezTo>
                  <a:cubicBezTo>
                    <a:pt x="2598365" y="21075"/>
                    <a:pt x="2602987" y="32233"/>
                    <a:pt x="2602987" y="43867"/>
                  </a:cubicBezTo>
                  <a:lnTo>
                    <a:pt x="2602987" y="1857444"/>
                  </a:lnTo>
                  <a:cubicBezTo>
                    <a:pt x="2602987" y="1881672"/>
                    <a:pt x="2583347" y="1901311"/>
                    <a:pt x="2559120" y="1901311"/>
                  </a:cubicBezTo>
                  <a:lnTo>
                    <a:pt x="43867" y="1901311"/>
                  </a:lnTo>
                  <a:cubicBezTo>
                    <a:pt x="19640" y="1901311"/>
                    <a:pt x="0" y="1881672"/>
                    <a:pt x="0" y="1857444"/>
                  </a:cubicBezTo>
                  <a:lnTo>
                    <a:pt x="0" y="43867"/>
                  </a:lnTo>
                  <a:cubicBezTo>
                    <a:pt x="0" y="19640"/>
                    <a:pt x="19640" y="0"/>
                    <a:pt x="43867" y="0"/>
                  </a:cubicBezTo>
                  <a:close/>
                </a:path>
              </a:pathLst>
            </a:custGeom>
            <a:solidFill>
              <a:srgbClr val="FFFFFF">
                <a:alpha val="21961"/>
              </a:srgbClr>
            </a:solidFill>
          </p:spPr>
        </p:sp>
        <p:sp>
          <p:nvSpPr>
            <p:cNvPr id="7" name="TextBox 7"/>
            <p:cNvSpPr txBox="1"/>
            <p:nvPr/>
          </p:nvSpPr>
          <p:spPr>
            <a:xfrm>
              <a:off x="0" y="-38100"/>
              <a:ext cx="2602987" cy="1939412"/>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819952" y="705698"/>
            <a:ext cx="16648096" cy="1477813"/>
            <a:chOff x="0" y="0"/>
            <a:chExt cx="4384684" cy="389218"/>
          </a:xfrm>
        </p:grpSpPr>
        <p:sp>
          <p:nvSpPr>
            <p:cNvPr id="9" name="Freeform 9"/>
            <p:cNvSpPr/>
            <p:nvPr/>
          </p:nvSpPr>
          <p:spPr>
            <a:xfrm>
              <a:off x="0" y="0"/>
              <a:ext cx="4384684" cy="389218"/>
            </a:xfrm>
            <a:custGeom>
              <a:avLst/>
              <a:gdLst/>
              <a:ahLst/>
              <a:cxnLst/>
              <a:rect l="l" t="t" r="r" b="b"/>
              <a:pathLst>
                <a:path w="4384684" h="389218">
                  <a:moveTo>
                    <a:pt x="26042" y="0"/>
                  </a:moveTo>
                  <a:lnTo>
                    <a:pt x="4358642" y="0"/>
                  </a:lnTo>
                  <a:cubicBezTo>
                    <a:pt x="4365548" y="0"/>
                    <a:pt x="4372172" y="2744"/>
                    <a:pt x="4377056" y="7627"/>
                  </a:cubicBezTo>
                  <a:cubicBezTo>
                    <a:pt x="4381940" y="12511"/>
                    <a:pt x="4384684" y="19135"/>
                    <a:pt x="4384684" y="26042"/>
                  </a:cubicBezTo>
                  <a:lnTo>
                    <a:pt x="4384684" y="363176"/>
                  </a:lnTo>
                  <a:cubicBezTo>
                    <a:pt x="4384684" y="370083"/>
                    <a:pt x="4381940" y="376707"/>
                    <a:pt x="4377056" y="381591"/>
                  </a:cubicBezTo>
                  <a:cubicBezTo>
                    <a:pt x="4372172" y="386474"/>
                    <a:pt x="4365548" y="389218"/>
                    <a:pt x="4358642" y="389218"/>
                  </a:cubicBezTo>
                  <a:lnTo>
                    <a:pt x="26042" y="389218"/>
                  </a:lnTo>
                  <a:cubicBezTo>
                    <a:pt x="19135" y="389218"/>
                    <a:pt x="12511" y="386474"/>
                    <a:pt x="7627" y="381591"/>
                  </a:cubicBezTo>
                  <a:cubicBezTo>
                    <a:pt x="2744" y="376707"/>
                    <a:pt x="0" y="370083"/>
                    <a:pt x="0" y="363176"/>
                  </a:cubicBezTo>
                  <a:lnTo>
                    <a:pt x="0" y="26042"/>
                  </a:lnTo>
                  <a:cubicBezTo>
                    <a:pt x="0" y="19135"/>
                    <a:pt x="2744" y="12511"/>
                    <a:pt x="7627" y="7627"/>
                  </a:cubicBezTo>
                  <a:cubicBezTo>
                    <a:pt x="12511" y="2744"/>
                    <a:pt x="19135" y="0"/>
                    <a:pt x="26042" y="0"/>
                  </a:cubicBezTo>
                  <a:close/>
                </a:path>
              </a:pathLst>
            </a:custGeom>
            <a:solidFill>
              <a:srgbClr val="FFFFFF">
                <a:alpha val="21961"/>
              </a:srgbClr>
            </a:solidFill>
          </p:spPr>
        </p:sp>
        <p:sp>
          <p:nvSpPr>
            <p:cNvPr id="10" name="TextBox 10"/>
            <p:cNvSpPr txBox="1"/>
            <p:nvPr/>
          </p:nvSpPr>
          <p:spPr>
            <a:xfrm>
              <a:off x="0" y="-38100"/>
              <a:ext cx="4384684" cy="427318"/>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1002112" y="2465442"/>
            <a:ext cx="6449969" cy="7257350"/>
          </a:xfrm>
          <a:custGeom>
            <a:avLst/>
            <a:gdLst/>
            <a:ahLst/>
            <a:cxnLst/>
            <a:rect l="l" t="t" r="r" b="b"/>
            <a:pathLst>
              <a:path w="6449969" h="7257350">
                <a:moveTo>
                  <a:pt x="0" y="0"/>
                </a:moveTo>
                <a:lnTo>
                  <a:pt x="6449969" y="0"/>
                </a:lnTo>
                <a:lnTo>
                  <a:pt x="6449969" y="7257349"/>
                </a:lnTo>
                <a:lnTo>
                  <a:pt x="0" y="7257349"/>
                </a:lnTo>
                <a:lnTo>
                  <a:pt x="0" y="0"/>
                </a:lnTo>
                <a:close/>
              </a:path>
            </a:pathLst>
          </a:custGeom>
          <a:blipFill>
            <a:blip r:embed="rId2"/>
            <a:stretch>
              <a:fillRect/>
            </a:stretch>
          </a:blipFill>
        </p:spPr>
      </p:sp>
      <p:sp>
        <p:nvSpPr>
          <p:cNvPr id="12" name="TextBox 12"/>
          <p:cNvSpPr txBox="1"/>
          <p:nvPr/>
        </p:nvSpPr>
        <p:spPr>
          <a:xfrm>
            <a:off x="1028700" y="2680521"/>
            <a:ext cx="9387707" cy="6810375"/>
          </a:xfrm>
          <a:prstGeom prst="rect">
            <a:avLst/>
          </a:prstGeom>
        </p:spPr>
        <p:txBody>
          <a:bodyPr lIns="0" tIns="0" rIns="0" bIns="0" rtlCol="0" anchor="t">
            <a:spAutoFit/>
          </a:bodyPr>
          <a:lstStyle/>
          <a:p>
            <a:pPr algn="just">
              <a:lnSpc>
                <a:spcPts val="4199"/>
              </a:lnSpc>
            </a:pPr>
            <a:r>
              <a:rPr lang="en-US" sz="2999">
                <a:gradFill>
                  <a:gsLst>
                    <a:gs pos="0">
                      <a:srgbClr val="000000">
                        <a:alpha val="100000"/>
                      </a:srgbClr>
                    </a:gs>
                    <a:gs pos="100000">
                      <a:srgbClr val="09033D">
                        <a:alpha val="100000"/>
                      </a:srgbClr>
                    </a:gs>
                  </a:gsLst>
                  <a:path path="circle">
                    <a:fillToRect r="100000" b="100000"/>
                  </a:path>
                  <a:tileRect l="-100000" t="-100000"/>
                </a:gradFill>
                <a:latin typeface="Poppins"/>
                <a:ea typeface="Poppins"/>
                <a:cs typeface="Poppins"/>
                <a:sym typeface="Poppins"/>
              </a:rPr>
              <a:t>In our fraud detection project, XGBoost serves as the most powerful component, specifically tasked with correcting the severe Class Imbalance problem. We chose it because its sequential architecture naturally focuses on fixing errors, ensuring the rare Fraud cases are prioritized. By setting the </a:t>
            </a:r>
            <a:r>
              <a:rPr lang="en-US" sz="2999" b="1">
                <a:gradFill>
                  <a:gsLst>
                    <a:gs pos="0">
                      <a:srgbClr val="000000">
                        <a:alpha val="100000"/>
                      </a:srgbClr>
                    </a:gs>
                    <a:gs pos="100000">
                      <a:srgbClr val="09033D">
                        <a:alpha val="100000"/>
                      </a:srgbClr>
                    </a:gs>
                  </a:gsLst>
                  <a:path path="circle">
                    <a:fillToRect r="100000" b="100000"/>
                  </a:path>
                  <a:tileRect l="-100000" t="-100000"/>
                </a:gradFill>
                <a:latin typeface="Poppins Bold"/>
                <a:ea typeface="Poppins Bold"/>
                <a:cs typeface="Poppins Bold"/>
                <a:sym typeface="Poppins Bold"/>
              </a:rPr>
              <a:t>scale_pos_weight </a:t>
            </a:r>
            <a:r>
              <a:rPr lang="en-US" sz="2999">
                <a:gradFill>
                  <a:gsLst>
                    <a:gs pos="0">
                      <a:srgbClr val="000000">
                        <a:alpha val="100000"/>
                      </a:srgbClr>
                    </a:gs>
                    <a:gs pos="100000">
                      <a:srgbClr val="09033D">
                        <a:alpha val="100000"/>
                      </a:srgbClr>
                    </a:gs>
                  </a:gsLst>
                  <a:path path="circle">
                    <a:fillToRect r="100000" b="100000"/>
                  </a:path>
                  <a:tileRect l="-100000" t="-100000"/>
                </a:gradFill>
                <a:latin typeface="Poppins"/>
                <a:ea typeface="Poppins"/>
                <a:cs typeface="Poppins"/>
                <a:sym typeface="Poppins"/>
              </a:rPr>
              <a:t>= </a:t>
            </a:r>
            <a:r>
              <a:rPr lang="en-US" sz="2999" b="1">
                <a:gradFill>
                  <a:gsLst>
                    <a:gs pos="0">
                      <a:srgbClr val="000000">
                        <a:alpha val="100000"/>
                      </a:srgbClr>
                    </a:gs>
                    <a:gs pos="100000">
                      <a:srgbClr val="09033D">
                        <a:alpha val="100000"/>
                      </a:srgbClr>
                    </a:gs>
                  </a:gsLst>
                  <a:path path="circle">
                    <a:fillToRect r="100000" b="100000"/>
                  </a:path>
                  <a:tileRect l="-100000" t="-100000"/>
                </a:gradFill>
                <a:latin typeface="Poppins Bold"/>
                <a:ea typeface="Poppins Bold"/>
                <a:cs typeface="Poppins Bold"/>
                <a:sym typeface="Poppins Bold"/>
              </a:rPr>
              <a:t>773 </a:t>
            </a:r>
            <a:r>
              <a:rPr lang="en-US" sz="2999">
                <a:gradFill>
                  <a:gsLst>
                    <a:gs pos="0">
                      <a:srgbClr val="000000">
                        <a:alpha val="100000"/>
                      </a:srgbClr>
                    </a:gs>
                    <a:gs pos="100000">
                      <a:srgbClr val="09033D">
                        <a:alpha val="100000"/>
                      </a:srgbClr>
                    </a:gs>
                  </a:gsLst>
                  <a:path path="circle">
                    <a:fillToRect r="100000" b="100000"/>
                  </a:path>
                  <a:tileRect l="-100000" t="-100000"/>
                </a:gradFill>
                <a:latin typeface="Poppins"/>
                <a:ea typeface="Poppins"/>
                <a:cs typeface="Poppins"/>
                <a:sym typeface="Poppins"/>
              </a:rPr>
              <a:t>parameter, we amplified the cost of missing fraud, forcing the model to become a reliable detector. The other parameters </a:t>
            </a:r>
            <a:r>
              <a:rPr lang="en-US" sz="2999" b="1">
                <a:gradFill>
                  <a:gsLst>
                    <a:gs pos="0">
                      <a:srgbClr val="000000">
                        <a:alpha val="100000"/>
                      </a:srgbClr>
                    </a:gs>
                    <a:gs pos="100000">
                      <a:srgbClr val="09033D">
                        <a:alpha val="100000"/>
                      </a:srgbClr>
                    </a:gs>
                  </a:gsLst>
                  <a:path path="circle">
                    <a:fillToRect r="100000" b="100000"/>
                  </a:path>
                  <a:tileRect l="-100000" t="-100000"/>
                </a:gradFill>
                <a:latin typeface="Poppins Bold"/>
                <a:ea typeface="Poppins Bold"/>
                <a:cs typeface="Poppins Bold"/>
                <a:sym typeface="Poppins Bold"/>
              </a:rPr>
              <a:t>(random_state,</a:t>
            </a:r>
            <a:r>
              <a:rPr lang="en-US" sz="2999">
                <a:gradFill>
                  <a:gsLst>
                    <a:gs pos="0">
                      <a:srgbClr val="000000">
                        <a:alpha val="100000"/>
                      </a:srgbClr>
                    </a:gs>
                    <a:gs pos="100000">
                      <a:srgbClr val="09033D">
                        <a:alpha val="100000"/>
                      </a:srgbClr>
                    </a:gs>
                  </a:gsLst>
                  <a:path path="circle">
                    <a:fillToRect r="100000" b="100000"/>
                  </a:path>
                  <a:tileRect l="-100000" t="-100000"/>
                </a:gradFill>
                <a:latin typeface="Poppins"/>
                <a:ea typeface="Poppins"/>
                <a:cs typeface="Poppins"/>
                <a:sym typeface="Poppins"/>
              </a:rPr>
              <a:t> </a:t>
            </a:r>
            <a:r>
              <a:rPr lang="en-US" sz="2999" b="1">
                <a:gradFill>
                  <a:gsLst>
                    <a:gs pos="0">
                      <a:srgbClr val="000000">
                        <a:alpha val="100000"/>
                      </a:srgbClr>
                    </a:gs>
                    <a:gs pos="100000">
                      <a:srgbClr val="09033D">
                        <a:alpha val="100000"/>
                      </a:srgbClr>
                    </a:gs>
                  </a:gsLst>
                  <a:path path="circle">
                    <a:fillToRect r="100000" b="100000"/>
                  </a:path>
                  <a:tileRect l="-100000" t="-100000"/>
                </a:gradFill>
                <a:latin typeface="Poppins Bold"/>
                <a:ea typeface="Poppins Bold"/>
                <a:cs typeface="Poppins Bold"/>
                <a:sym typeface="Poppins Bold"/>
              </a:rPr>
              <a:t>eval_metric</a:t>
            </a:r>
            <a:r>
              <a:rPr lang="en-US" sz="2999">
                <a:gradFill>
                  <a:gsLst>
                    <a:gs pos="0">
                      <a:srgbClr val="000000">
                        <a:alpha val="100000"/>
                      </a:srgbClr>
                    </a:gs>
                    <a:gs pos="100000">
                      <a:srgbClr val="09033D">
                        <a:alpha val="100000"/>
                      </a:srgbClr>
                    </a:gs>
                  </a:gsLst>
                  <a:path path="circle">
                    <a:fillToRect r="100000" b="100000"/>
                  </a:path>
                  <a:tileRect l="-100000" t="-100000"/>
                </a:gradFill>
                <a:latin typeface="Poppins"/>
                <a:ea typeface="Poppins"/>
                <a:cs typeface="Poppins"/>
                <a:sym typeface="Poppins"/>
              </a:rPr>
              <a:t>) simply ensure the training process is consistent and measures performance correctly. </a:t>
            </a:r>
          </a:p>
        </p:txBody>
      </p:sp>
      <p:sp>
        <p:nvSpPr>
          <p:cNvPr id="13" name="TextBox 13"/>
          <p:cNvSpPr txBox="1"/>
          <p:nvPr/>
        </p:nvSpPr>
        <p:spPr>
          <a:xfrm>
            <a:off x="803986" y="914824"/>
            <a:ext cx="16648096" cy="1107185"/>
          </a:xfrm>
          <a:prstGeom prst="rect">
            <a:avLst/>
          </a:prstGeom>
        </p:spPr>
        <p:txBody>
          <a:bodyPr lIns="0" tIns="0" rIns="0" bIns="0" rtlCol="0" anchor="t">
            <a:spAutoFit/>
          </a:bodyPr>
          <a:lstStyle/>
          <a:p>
            <a:pPr algn="ctr">
              <a:lnSpc>
                <a:spcPts val="7751"/>
              </a:lnSpc>
            </a:pPr>
            <a:r>
              <a:rPr lang="en-US" sz="7599" b="1" spc="-341">
                <a:gradFill>
                  <a:gsLst>
                    <a:gs pos="0">
                      <a:srgbClr val="000000">
                        <a:alpha val="100000"/>
                      </a:srgbClr>
                    </a:gs>
                    <a:gs pos="100000">
                      <a:srgbClr val="09033D">
                        <a:alpha val="100000"/>
                      </a:srgbClr>
                    </a:gs>
                  </a:gsLst>
                  <a:path path="circle">
                    <a:fillToRect r="100000" b="100000"/>
                  </a:path>
                  <a:tileRect l="-100000" t="-100000"/>
                </a:gradFill>
                <a:latin typeface="Telegraf Bold"/>
                <a:ea typeface="Telegraf Bold"/>
                <a:cs typeface="Telegraf Bold"/>
                <a:sym typeface="Telegraf Bold"/>
              </a:rPr>
              <a:t>What &amp; Why XGBoost??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803986" y="401959"/>
            <a:ext cx="8641761" cy="9291880"/>
            <a:chOff x="0" y="0"/>
            <a:chExt cx="2276019" cy="2447244"/>
          </a:xfrm>
        </p:grpSpPr>
        <p:sp>
          <p:nvSpPr>
            <p:cNvPr id="3" name="Freeform 3"/>
            <p:cNvSpPr/>
            <p:nvPr/>
          </p:nvSpPr>
          <p:spPr>
            <a:xfrm>
              <a:off x="0" y="0"/>
              <a:ext cx="2276019" cy="2447244"/>
            </a:xfrm>
            <a:custGeom>
              <a:avLst/>
              <a:gdLst/>
              <a:ahLst/>
              <a:cxnLst/>
              <a:rect l="l" t="t" r="r" b="b"/>
              <a:pathLst>
                <a:path w="2276019" h="2447244">
                  <a:moveTo>
                    <a:pt x="50169" y="0"/>
                  </a:moveTo>
                  <a:lnTo>
                    <a:pt x="2225851" y="0"/>
                  </a:lnTo>
                  <a:cubicBezTo>
                    <a:pt x="2239156" y="0"/>
                    <a:pt x="2251917" y="5286"/>
                    <a:pt x="2261325" y="14694"/>
                  </a:cubicBezTo>
                  <a:cubicBezTo>
                    <a:pt x="2270734" y="24103"/>
                    <a:pt x="2276019" y="36863"/>
                    <a:pt x="2276019" y="50169"/>
                  </a:cubicBezTo>
                  <a:lnTo>
                    <a:pt x="2276019" y="2397075"/>
                  </a:lnTo>
                  <a:cubicBezTo>
                    <a:pt x="2276019" y="2410381"/>
                    <a:pt x="2270734" y="2423141"/>
                    <a:pt x="2261325" y="2432550"/>
                  </a:cubicBezTo>
                  <a:cubicBezTo>
                    <a:pt x="2251917" y="2441958"/>
                    <a:pt x="2239156" y="2447244"/>
                    <a:pt x="2225851" y="2447244"/>
                  </a:cubicBezTo>
                  <a:lnTo>
                    <a:pt x="50169" y="2447244"/>
                  </a:lnTo>
                  <a:cubicBezTo>
                    <a:pt x="36863" y="2447244"/>
                    <a:pt x="24103" y="2441958"/>
                    <a:pt x="14694" y="2432550"/>
                  </a:cubicBezTo>
                  <a:cubicBezTo>
                    <a:pt x="5286" y="2423141"/>
                    <a:pt x="0" y="2410381"/>
                    <a:pt x="0" y="2397075"/>
                  </a:cubicBezTo>
                  <a:lnTo>
                    <a:pt x="0" y="50169"/>
                  </a:lnTo>
                  <a:cubicBezTo>
                    <a:pt x="0" y="36863"/>
                    <a:pt x="5286" y="24103"/>
                    <a:pt x="14694" y="14694"/>
                  </a:cubicBezTo>
                  <a:cubicBezTo>
                    <a:pt x="24103" y="5286"/>
                    <a:pt x="36863" y="0"/>
                    <a:pt x="50169" y="0"/>
                  </a:cubicBezTo>
                  <a:close/>
                </a:path>
              </a:pathLst>
            </a:custGeom>
            <a:gradFill rotWithShape="1">
              <a:gsLst>
                <a:gs pos="0">
                  <a:srgbClr val="000000">
                    <a:alpha val="78000"/>
                  </a:srgbClr>
                </a:gs>
                <a:gs pos="100000">
                  <a:srgbClr val="DDDDDD">
                    <a:alpha val="14820"/>
                  </a:srgbClr>
                </a:gs>
              </a:gsLst>
              <a:lin ang="2700000"/>
            </a:gradFill>
          </p:spPr>
        </p:sp>
        <p:sp>
          <p:nvSpPr>
            <p:cNvPr id="4" name="TextBox 4"/>
            <p:cNvSpPr txBox="1"/>
            <p:nvPr/>
          </p:nvSpPr>
          <p:spPr>
            <a:xfrm>
              <a:off x="0" y="-66675"/>
              <a:ext cx="2276019" cy="2513919"/>
            </a:xfrm>
            <a:prstGeom prst="rect">
              <a:avLst/>
            </a:prstGeom>
          </p:spPr>
          <p:txBody>
            <a:bodyPr lIns="50800" tIns="50800" rIns="50800" bIns="50800" rtlCol="0" anchor="ctr"/>
            <a:lstStyle/>
            <a:p>
              <a:pPr algn="ctr">
                <a:lnSpc>
                  <a:spcPts val="3151"/>
                </a:lnSpc>
              </a:pPr>
              <a:endParaRPr/>
            </a:p>
          </p:txBody>
        </p:sp>
      </p:grpSp>
      <p:grpSp>
        <p:nvGrpSpPr>
          <p:cNvPr id="5" name="Group 5"/>
          <p:cNvGrpSpPr/>
          <p:nvPr/>
        </p:nvGrpSpPr>
        <p:grpSpPr>
          <a:xfrm>
            <a:off x="13737619" y="7226139"/>
            <a:ext cx="3762344" cy="2467700"/>
            <a:chOff x="0" y="0"/>
            <a:chExt cx="990905" cy="649929"/>
          </a:xfrm>
        </p:grpSpPr>
        <p:sp>
          <p:nvSpPr>
            <p:cNvPr id="6" name="Freeform 6"/>
            <p:cNvSpPr/>
            <p:nvPr/>
          </p:nvSpPr>
          <p:spPr>
            <a:xfrm>
              <a:off x="0" y="0"/>
              <a:ext cx="990905" cy="649929"/>
            </a:xfrm>
            <a:custGeom>
              <a:avLst/>
              <a:gdLst/>
              <a:ahLst/>
              <a:cxnLst/>
              <a:rect l="l" t="t" r="r" b="b"/>
              <a:pathLst>
                <a:path w="990905" h="649929">
                  <a:moveTo>
                    <a:pt x="115233" y="0"/>
                  </a:moveTo>
                  <a:lnTo>
                    <a:pt x="875672" y="0"/>
                  </a:lnTo>
                  <a:cubicBezTo>
                    <a:pt x="939314" y="0"/>
                    <a:pt x="990905" y="51592"/>
                    <a:pt x="990905" y="115233"/>
                  </a:cubicBezTo>
                  <a:lnTo>
                    <a:pt x="990905" y="534696"/>
                  </a:lnTo>
                  <a:cubicBezTo>
                    <a:pt x="990905" y="565258"/>
                    <a:pt x="978765" y="594568"/>
                    <a:pt x="957154" y="616178"/>
                  </a:cubicBezTo>
                  <a:cubicBezTo>
                    <a:pt x="935544" y="637789"/>
                    <a:pt x="906234" y="649929"/>
                    <a:pt x="875672" y="649929"/>
                  </a:cubicBezTo>
                  <a:lnTo>
                    <a:pt x="115233" y="649929"/>
                  </a:lnTo>
                  <a:cubicBezTo>
                    <a:pt x="51592" y="649929"/>
                    <a:pt x="0" y="598337"/>
                    <a:pt x="0" y="534696"/>
                  </a:cubicBezTo>
                  <a:lnTo>
                    <a:pt x="0" y="115233"/>
                  </a:lnTo>
                  <a:cubicBezTo>
                    <a:pt x="0" y="51592"/>
                    <a:pt x="51592" y="0"/>
                    <a:pt x="115233"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7" name="TextBox 7"/>
            <p:cNvSpPr txBox="1"/>
            <p:nvPr/>
          </p:nvSpPr>
          <p:spPr>
            <a:xfrm>
              <a:off x="0" y="-66675"/>
              <a:ext cx="990905" cy="716604"/>
            </a:xfrm>
            <a:prstGeom prst="rect">
              <a:avLst/>
            </a:prstGeom>
          </p:spPr>
          <p:txBody>
            <a:bodyPr lIns="50800" tIns="50800" rIns="50800" bIns="50800" rtlCol="0" anchor="ctr"/>
            <a:lstStyle/>
            <a:p>
              <a:pPr algn="ctr">
                <a:lnSpc>
                  <a:spcPts val="3151"/>
                </a:lnSpc>
              </a:pPr>
              <a:endParaRPr/>
            </a:p>
          </p:txBody>
        </p:sp>
      </p:grpSp>
      <p:grpSp>
        <p:nvGrpSpPr>
          <p:cNvPr id="8" name="Group 8"/>
          <p:cNvGrpSpPr/>
          <p:nvPr/>
        </p:nvGrpSpPr>
        <p:grpSpPr>
          <a:xfrm>
            <a:off x="9975275" y="401959"/>
            <a:ext cx="7524688" cy="6423065"/>
            <a:chOff x="0" y="0"/>
            <a:chExt cx="1165771" cy="995101"/>
          </a:xfrm>
        </p:grpSpPr>
        <p:sp>
          <p:nvSpPr>
            <p:cNvPr id="9" name="Freeform 9"/>
            <p:cNvSpPr/>
            <p:nvPr/>
          </p:nvSpPr>
          <p:spPr>
            <a:xfrm>
              <a:off x="0" y="0"/>
              <a:ext cx="1165771" cy="995101"/>
            </a:xfrm>
            <a:custGeom>
              <a:avLst/>
              <a:gdLst/>
              <a:ahLst/>
              <a:cxnLst/>
              <a:rect l="l" t="t" r="r" b="b"/>
              <a:pathLst>
                <a:path w="1165771" h="995101">
                  <a:moveTo>
                    <a:pt x="57617" y="0"/>
                  </a:moveTo>
                  <a:lnTo>
                    <a:pt x="1108154" y="0"/>
                  </a:lnTo>
                  <a:cubicBezTo>
                    <a:pt x="1123435" y="0"/>
                    <a:pt x="1138090" y="6070"/>
                    <a:pt x="1148896" y="16876"/>
                  </a:cubicBezTo>
                  <a:cubicBezTo>
                    <a:pt x="1159701" y="27681"/>
                    <a:pt x="1165771" y="42336"/>
                    <a:pt x="1165771" y="57617"/>
                  </a:cubicBezTo>
                  <a:lnTo>
                    <a:pt x="1165771" y="937484"/>
                  </a:lnTo>
                  <a:cubicBezTo>
                    <a:pt x="1165771" y="952765"/>
                    <a:pt x="1159701" y="967420"/>
                    <a:pt x="1148896" y="978225"/>
                  </a:cubicBezTo>
                  <a:cubicBezTo>
                    <a:pt x="1138090" y="989031"/>
                    <a:pt x="1123435" y="995101"/>
                    <a:pt x="1108154" y="995101"/>
                  </a:cubicBezTo>
                  <a:lnTo>
                    <a:pt x="57617" y="995101"/>
                  </a:lnTo>
                  <a:cubicBezTo>
                    <a:pt x="42336" y="995101"/>
                    <a:pt x="27681" y="989031"/>
                    <a:pt x="16876" y="978225"/>
                  </a:cubicBezTo>
                  <a:cubicBezTo>
                    <a:pt x="6070" y="967420"/>
                    <a:pt x="0" y="952765"/>
                    <a:pt x="0" y="937484"/>
                  </a:cubicBezTo>
                  <a:lnTo>
                    <a:pt x="0" y="57617"/>
                  </a:lnTo>
                  <a:cubicBezTo>
                    <a:pt x="0" y="42336"/>
                    <a:pt x="6070" y="27681"/>
                    <a:pt x="16876" y="16876"/>
                  </a:cubicBezTo>
                  <a:cubicBezTo>
                    <a:pt x="27681" y="6070"/>
                    <a:pt x="42336" y="0"/>
                    <a:pt x="57617" y="0"/>
                  </a:cubicBezTo>
                  <a:close/>
                </a:path>
              </a:pathLst>
            </a:custGeom>
            <a:blipFill>
              <a:blip r:embed="rId2"/>
              <a:stretch>
                <a:fillRect t="-3854" r="-2256" b="-1170"/>
              </a:stretch>
            </a:blipFill>
          </p:spPr>
        </p:sp>
      </p:grpSp>
      <p:sp>
        <p:nvSpPr>
          <p:cNvPr id="10" name="TextBox 10"/>
          <p:cNvSpPr txBox="1"/>
          <p:nvPr/>
        </p:nvSpPr>
        <p:spPr>
          <a:xfrm>
            <a:off x="937200" y="1751259"/>
            <a:ext cx="8115300" cy="8387715"/>
          </a:xfrm>
          <a:prstGeom prst="rect">
            <a:avLst/>
          </a:prstGeom>
        </p:spPr>
        <p:txBody>
          <a:bodyPr lIns="0" tIns="0" rIns="0" bIns="0" rtlCol="0" anchor="t">
            <a:spAutoFit/>
          </a:bodyPr>
          <a:lstStyle/>
          <a:p>
            <a:pPr algn="just">
              <a:lnSpc>
                <a:spcPts val="3359"/>
              </a:lnSpc>
            </a:pPr>
            <a:r>
              <a:rPr lang="en-US" sz="2399">
                <a:solidFill>
                  <a:srgbClr val="FFFFFF"/>
                </a:solidFill>
                <a:latin typeface="Poppins"/>
                <a:ea typeface="Poppins"/>
                <a:cs typeface="Poppins"/>
                <a:sym typeface="Poppins"/>
              </a:rPr>
              <a:t>The metrics were achieved using the highly-tuned </a:t>
            </a:r>
            <a:r>
              <a:rPr lang="en-US" sz="2399" b="1">
                <a:solidFill>
                  <a:srgbClr val="FFFFFF"/>
                </a:solidFill>
                <a:latin typeface="Poppins Bold"/>
                <a:ea typeface="Poppins Bold"/>
                <a:cs typeface="Poppins Bold"/>
                <a:sym typeface="Poppins Bold"/>
              </a:rPr>
              <a:t>XGBClassifier </a:t>
            </a:r>
            <a:r>
              <a:rPr lang="en-US" sz="2399">
                <a:solidFill>
                  <a:srgbClr val="FFFFFF"/>
                </a:solidFill>
                <a:latin typeface="Poppins"/>
                <a:ea typeface="Poppins"/>
                <a:cs typeface="Poppins"/>
                <a:sym typeface="Poppins"/>
              </a:rPr>
              <a:t>with the </a:t>
            </a:r>
            <a:r>
              <a:rPr lang="en-US" sz="2399" b="1">
                <a:solidFill>
                  <a:srgbClr val="FFFFFF"/>
                </a:solidFill>
                <a:latin typeface="Poppins Bold"/>
                <a:ea typeface="Poppins Bold"/>
                <a:cs typeface="Poppins Bold"/>
                <a:sym typeface="Poppins Bold"/>
              </a:rPr>
              <a:t>scale_pos_weight=773</a:t>
            </a:r>
            <a:r>
              <a:rPr lang="en-US" sz="2399">
                <a:solidFill>
                  <a:srgbClr val="FFFFFF"/>
                </a:solidFill>
                <a:latin typeface="Poppins"/>
                <a:ea typeface="Poppins"/>
                <a:cs typeface="Poppins"/>
                <a:sym typeface="Poppins"/>
              </a:rPr>
              <a:t> parameter, evaluated on the ValidationTest Set (the data the model never saw during training). </a:t>
            </a:r>
          </a:p>
          <a:p>
            <a:pPr algn="just">
              <a:lnSpc>
                <a:spcPts val="3359"/>
              </a:lnSpc>
            </a:pPr>
            <a:endParaRPr lang="en-US" sz="2399">
              <a:solidFill>
                <a:srgbClr val="FFFFFF"/>
              </a:solidFill>
              <a:latin typeface="Poppins"/>
              <a:ea typeface="Poppins"/>
              <a:cs typeface="Poppins"/>
              <a:sym typeface="Poppins"/>
            </a:endParaRPr>
          </a:p>
          <a:p>
            <a:pPr marL="518158" lvl="1" indent="-259079" algn="just">
              <a:lnSpc>
                <a:spcPts val="3359"/>
              </a:lnSpc>
              <a:buAutoNum type="arabicPeriod"/>
            </a:pPr>
            <a:r>
              <a:rPr lang="en-US" sz="2399">
                <a:solidFill>
                  <a:srgbClr val="FFFFFF"/>
                </a:solidFill>
                <a:latin typeface="Poppins"/>
                <a:ea typeface="Poppins"/>
                <a:cs typeface="Poppins"/>
                <a:sym typeface="Poppins"/>
              </a:rPr>
              <a:t>ROC AUC: The </a:t>
            </a:r>
            <a:r>
              <a:rPr lang="en-US" sz="2399" b="1">
                <a:solidFill>
                  <a:srgbClr val="FFFFFF"/>
                </a:solidFill>
                <a:latin typeface="Poppins Bold"/>
                <a:ea typeface="Poppins Bold"/>
                <a:cs typeface="Poppins Bold"/>
                <a:sym typeface="Poppins Bold"/>
              </a:rPr>
              <a:t>ROC AUC</a:t>
            </a:r>
            <a:r>
              <a:rPr lang="en-US" sz="2399">
                <a:solidFill>
                  <a:srgbClr val="FFFFFF"/>
                </a:solidFill>
                <a:latin typeface="Poppins"/>
                <a:ea typeface="Poppins"/>
                <a:cs typeface="Poppins"/>
                <a:sym typeface="Poppins"/>
              </a:rPr>
              <a:t> Score (Area Under the Receiver Operating Characteristic Curve) is the definitive metric for our fraud detection project because it effectively ignores the </a:t>
            </a:r>
            <a:r>
              <a:rPr lang="en-US" sz="2399" b="1">
                <a:solidFill>
                  <a:srgbClr val="FFFFFF"/>
                </a:solidFill>
                <a:latin typeface="Poppins Bold"/>
                <a:ea typeface="Poppins Bold"/>
                <a:cs typeface="Poppins Bold"/>
                <a:sym typeface="Poppins Bold"/>
              </a:rPr>
              <a:t>773:1</a:t>
            </a:r>
            <a:r>
              <a:rPr lang="en-US" sz="2399">
                <a:solidFill>
                  <a:srgbClr val="FFFFFF"/>
                </a:solidFill>
                <a:latin typeface="Poppins"/>
                <a:ea typeface="Poppins"/>
                <a:cs typeface="Poppins"/>
                <a:sym typeface="Poppins"/>
              </a:rPr>
              <a:t> Class Imbalance. </a:t>
            </a:r>
          </a:p>
          <a:p>
            <a:pPr algn="just">
              <a:lnSpc>
                <a:spcPts val="3359"/>
              </a:lnSpc>
            </a:pPr>
            <a:r>
              <a:rPr lang="en-US" sz="2399">
                <a:solidFill>
                  <a:srgbClr val="FFFFFF"/>
                </a:solidFill>
                <a:latin typeface="Poppins"/>
                <a:ea typeface="Poppins"/>
                <a:cs typeface="Poppins"/>
                <a:sym typeface="Poppins"/>
              </a:rPr>
              <a:t>While the overall ROC AUC is superb, the confusion matrix reveals a trade-off:</a:t>
            </a:r>
          </a:p>
          <a:p>
            <a:pPr marL="518158" lvl="1" indent="-259079" algn="just">
              <a:lnSpc>
                <a:spcPts val="3359"/>
              </a:lnSpc>
              <a:buFont typeface="Arial"/>
              <a:buChar char="•"/>
            </a:pPr>
            <a:r>
              <a:rPr lang="en-US" sz="2399">
                <a:solidFill>
                  <a:srgbClr val="FFFFFF"/>
                </a:solidFill>
                <a:latin typeface="Poppins"/>
                <a:ea typeface="Poppins"/>
                <a:cs typeface="Poppins"/>
                <a:sym typeface="Poppins"/>
              </a:rPr>
              <a:t>True Negatives (TN): 1.9 million safe transactions.</a:t>
            </a:r>
          </a:p>
          <a:p>
            <a:pPr marL="518158" lvl="1" indent="-259079" algn="just">
              <a:lnSpc>
                <a:spcPts val="3359"/>
              </a:lnSpc>
              <a:buFont typeface="Arial"/>
              <a:buChar char="•"/>
            </a:pPr>
            <a:r>
              <a:rPr lang="en-US" sz="2399">
                <a:solidFill>
                  <a:srgbClr val="FFFFFF"/>
                </a:solidFill>
                <a:latin typeface="Poppins"/>
                <a:ea typeface="Poppins"/>
                <a:cs typeface="Poppins"/>
                <a:sym typeface="Poppins"/>
              </a:rPr>
              <a:t>False Positives (FP): 777 transactions were incorrectly flagged as fraud.</a:t>
            </a:r>
          </a:p>
          <a:p>
            <a:pPr marL="518158" lvl="1" indent="-259079" algn="just">
              <a:lnSpc>
                <a:spcPts val="3359"/>
              </a:lnSpc>
              <a:buFont typeface="Arial"/>
              <a:buChar char="•"/>
            </a:pPr>
            <a:r>
              <a:rPr lang="en-US" sz="2399">
                <a:solidFill>
                  <a:srgbClr val="FFFFFF"/>
                </a:solidFill>
                <a:latin typeface="Poppins"/>
                <a:ea typeface="Poppins"/>
                <a:cs typeface="Poppins"/>
                <a:sym typeface="Poppins"/>
              </a:rPr>
              <a:t>True Positives (TP): 1,053 fraud cases were caught.</a:t>
            </a:r>
          </a:p>
          <a:p>
            <a:pPr marL="518158" lvl="1" indent="-259079" algn="just">
              <a:lnSpc>
                <a:spcPts val="3359"/>
              </a:lnSpc>
              <a:buFont typeface="Arial"/>
              <a:buChar char="•"/>
            </a:pPr>
            <a:r>
              <a:rPr lang="en-US" sz="2399">
                <a:solidFill>
                  <a:srgbClr val="FFFFFF"/>
                </a:solidFill>
                <a:latin typeface="Poppins"/>
                <a:ea typeface="Poppins"/>
                <a:cs typeface="Poppins"/>
                <a:sym typeface="Poppins"/>
              </a:rPr>
              <a:t>False Negatives (FN): 1,382 fraud cases were missed.</a:t>
            </a:r>
          </a:p>
          <a:p>
            <a:pPr algn="just">
              <a:lnSpc>
                <a:spcPts val="3359"/>
              </a:lnSpc>
            </a:pPr>
            <a:endParaRPr lang="en-US" sz="2399">
              <a:solidFill>
                <a:srgbClr val="FFFFFF"/>
              </a:solidFill>
              <a:latin typeface="Poppins"/>
              <a:ea typeface="Poppins"/>
              <a:cs typeface="Poppins"/>
              <a:sym typeface="Poppins"/>
            </a:endParaRPr>
          </a:p>
          <a:p>
            <a:pPr algn="just">
              <a:lnSpc>
                <a:spcPts val="3359"/>
              </a:lnSpc>
            </a:pPr>
            <a:endParaRPr lang="en-US" sz="2399">
              <a:solidFill>
                <a:srgbClr val="FFFFFF"/>
              </a:solidFill>
              <a:latin typeface="Poppins"/>
              <a:ea typeface="Poppins"/>
              <a:cs typeface="Poppins"/>
              <a:sym typeface="Poppins"/>
            </a:endParaRPr>
          </a:p>
        </p:txBody>
      </p:sp>
      <p:sp>
        <p:nvSpPr>
          <p:cNvPr id="11" name="TextBox 11"/>
          <p:cNvSpPr txBox="1"/>
          <p:nvPr/>
        </p:nvSpPr>
        <p:spPr>
          <a:xfrm>
            <a:off x="1028700" y="671439"/>
            <a:ext cx="7719401" cy="1146494"/>
          </a:xfrm>
          <a:prstGeom prst="rect">
            <a:avLst/>
          </a:prstGeom>
        </p:spPr>
        <p:txBody>
          <a:bodyPr lIns="0" tIns="0" rIns="0" bIns="0" rtlCol="0" anchor="t">
            <a:spAutoFit/>
          </a:bodyPr>
          <a:lstStyle/>
          <a:p>
            <a:pPr algn="l">
              <a:lnSpc>
                <a:spcPts val="8077"/>
              </a:lnSpc>
            </a:pPr>
            <a:r>
              <a:rPr lang="en-US" sz="7919" b="1" spc="-356">
                <a:solidFill>
                  <a:srgbClr val="FFFFFF"/>
                </a:solidFill>
                <a:latin typeface="Telegraf Bold"/>
                <a:ea typeface="Telegraf Bold"/>
                <a:cs typeface="Telegraf Bold"/>
                <a:sym typeface="Telegraf Bold"/>
              </a:rPr>
              <a:t>Model Metrics</a:t>
            </a:r>
          </a:p>
        </p:txBody>
      </p:sp>
      <p:sp>
        <p:nvSpPr>
          <p:cNvPr id="12" name="TextBox 12"/>
          <p:cNvSpPr txBox="1"/>
          <p:nvPr/>
        </p:nvSpPr>
        <p:spPr>
          <a:xfrm>
            <a:off x="13872712" y="8364738"/>
            <a:ext cx="3492157" cy="1226834"/>
          </a:xfrm>
          <a:prstGeom prst="rect">
            <a:avLst/>
          </a:prstGeom>
        </p:spPr>
        <p:txBody>
          <a:bodyPr lIns="0" tIns="0" rIns="0" bIns="0" rtlCol="0" anchor="t">
            <a:spAutoFit/>
          </a:bodyPr>
          <a:lstStyle/>
          <a:p>
            <a:pPr marL="0" lvl="0" indent="0" algn="r">
              <a:lnSpc>
                <a:spcPts val="4829"/>
              </a:lnSpc>
              <a:spcBef>
                <a:spcPct val="0"/>
              </a:spcBef>
            </a:pPr>
            <a:r>
              <a:rPr lang="en-US" sz="3449">
                <a:solidFill>
                  <a:srgbClr val="FFFFFF"/>
                </a:solidFill>
                <a:latin typeface="Poppins"/>
                <a:ea typeface="Poppins"/>
                <a:cs typeface="Poppins"/>
                <a:sym typeface="Poppins"/>
              </a:rPr>
              <a:t>Validation ROC AUC score</a:t>
            </a:r>
          </a:p>
        </p:txBody>
      </p:sp>
      <p:sp>
        <p:nvSpPr>
          <p:cNvPr id="13" name="TextBox 13"/>
          <p:cNvSpPr txBox="1"/>
          <p:nvPr/>
        </p:nvSpPr>
        <p:spPr>
          <a:xfrm>
            <a:off x="-6171763" y="2755477"/>
            <a:ext cx="7719401" cy="409541"/>
          </a:xfrm>
          <a:prstGeom prst="rect">
            <a:avLst/>
          </a:prstGeom>
        </p:spPr>
        <p:txBody>
          <a:bodyPr lIns="0" tIns="0" rIns="0" bIns="0" rtlCol="0" anchor="t">
            <a:spAutoFit/>
          </a:bodyPr>
          <a:lstStyle/>
          <a:p>
            <a:pPr algn="ctr">
              <a:lnSpc>
                <a:spcPts val="3151"/>
              </a:lnSpc>
              <a:spcBef>
                <a:spcPct val="0"/>
              </a:spcBef>
            </a:pPr>
            <a:r>
              <a:rPr lang="en-US" sz="2251">
                <a:solidFill>
                  <a:srgbClr val="FFFFFF"/>
                </a:solidFill>
                <a:latin typeface="Poppins"/>
                <a:ea typeface="Poppins"/>
                <a:cs typeface="Poppins"/>
                <a:sym typeface="Poppins"/>
              </a:rPr>
              <a:t>hbf{</a:t>
            </a:r>
          </a:p>
        </p:txBody>
      </p:sp>
      <p:sp>
        <p:nvSpPr>
          <p:cNvPr id="14" name="TextBox 14"/>
          <p:cNvSpPr txBox="1"/>
          <p:nvPr/>
        </p:nvSpPr>
        <p:spPr>
          <a:xfrm>
            <a:off x="9052500" y="4905392"/>
            <a:ext cx="182999" cy="409541"/>
          </a:xfrm>
          <a:prstGeom prst="rect">
            <a:avLst/>
          </a:prstGeom>
        </p:spPr>
        <p:txBody>
          <a:bodyPr lIns="0" tIns="0" rIns="0" bIns="0" rtlCol="0" anchor="t">
            <a:spAutoFit/>
          </a:bodyPr>
          <a:lstStyle/>
          <a:p>
            <a:pPr algn="ctr">
              <a:lnSpc>
                <a:spcPts val="3151"/>
              </a:lnSpc>
              <a:spcBef>
                <a:spcPct val="0"/>
              </a:spcBef>
            </a:pPr>
            <a:r>
              <a:rPr lang="en-US" sz="2251">
                <a:solidFill>
                  <a:srgbClr val="FFFFFF"/>
                </a:solidFill>
                <a:latin typeface="Poppins"/>
                <a:ea typeface="Poppins"/>
                <a:cs typeface="Poppins"/>
                <a:sym typeface="Poppins"/>
              </a:rPr>
              <a:t>h</a:t>
            </a:r>
          </a:p>
        </p:txBody>
      </p:sp>
      <p:sp>
        <p:nvSpPr>
          <p:cNvPr id="15" name="TextBox 15"/>
          <p:cNvSpPr txBox="1"/>
          <p:nvPr/>
        </p:nvSpPr>
        <p:spPr>
          <a:xfrm>
            <a:off x="13767143" y="7209038"/>
            <a:ext cx="3492157" cy="1250950"/>
          </a:xfrm>
          <a:prstGeom prst="rect">
            <a:avLst/>
          </a:prstGeom>
        </p:spPr>
        <p:txBody>
          <a:bodyPr lIns="0" tIns="0" rIns="0" bIns="0" rtlCol="0" anchor="t">
            <a:spAutoFit/>
          </a:bodyPr>
          <a:lstStyle/>
          <a:p>
            <a:pPr marL="0" lvl="0" indent="0" algn="r">
              <a:lnSpc>
                <a:spcPts val="9799"/>
              </a:lnSpc>
              <a:spcBef>
                <a:spcPct val="0"/>
              </a:spcBef>
            </a:pPr>
            <a:r>
              <a:rPr lang="en-US" sz="6999" b="1">
                <a:solidFill>
                  <a:srgbClr val="FFFFFF"/>
                </a:solidFill>
                <a:latin typeface="Poppins Bold"/>
                <a:ea typeface="Poppins Bold"/>
                <a:cs typeface="Poppins Bold"/>
                <a:sym typeface="Poppins Bold"/>
              </a:rPr>
              <a:t>≈ 0.99</a:t>
            </a:r>
          </a:p>
        </p:txBody>
      </p:sp>
      <p:grpSp>
        <p:nvGrpSpPr>
          <p:cNvPr id="16" name="Group 16"/>
          <p:cNvGrpSpPr/>
          <p:nvPr/>
        </p:nvGrpSpPr>
        <p:grpSpPr>
          <a:xfrm>
            <a:off x="9710511" y="7226139"/>
            <a:ext cx="3762344" cy="2467700"/>
            <a:chOff x="0" y="0"/>
            <a:chExt cx="990905" cy="649929"/>
          </a:xfrm>
        </p:grpSpPr>
        <p:sp>
          <p:nvSpPr>
            <p:cNvPr id="17" name="Freeform 17"/>
            <p:cNvSpPr/>
            <p:nvPr/>
          </p:nvSpPr>
          <p:spPr>
            <a:xfrm>
              <a:off x="0" y="0"/>
              <a:ext cx="990905" cy="649929"/>
            </a:xfrm>
            <a:custGeom>
              <a:avLst/>
              <a:gdLst/>
              <a:ahLst/>
              <a:cxnLst/>
              <a:rect l="l" t="t" r="r" b="b"/>
              <a:pathLst>
                <a:path w="990905" h="649929">
                  <a:moveTo>
                    <a:pt x="115233" y="0"/>
                  </a:moveTo>
                  <a:lnTo>
                    <a:pt x="875672" y="0"/>
                  </a:lnTo>
                  <a:cubicBezTo>
                    <a:pt x="939314" y="0"/>
                    <a:pt x="990905" y="51592"/>
                    <a:pt x="990905" y="115233"/>
                  </a:cubicBezTo>
                  <a:lnTo>
                    <a:pt x="990905" y="534696"/>
                  </a:lnTo>
                  <a:cubicBezTo>
                    <a:pt x="990905" y="565258"/>
                    <a:pt x="978765" y="594568"/>
                    <a:pt x="957154" y="616178"/>
                  </a:cubicBezTo>
                  <a:cubicBezTo>
                    <a:pt x="935544" y="637789"/>
                    <a:pt x="906234" y="649929"/>
                    <a:pt x="875672" y="649929"/>
                  </a:cubicBezTo>
                  <a:lnTo>
                    <a:pt x="115233" y="649929"/>
                  </a:lnTo>
                  <a:cubicBezTo>
                    <a:pt x="51592" y="649929"/>
                    <a:pt x="0" y="598337"/>
                    <a:pt x="0" y="534696"/>
                  </a:cubicBezTo>
                  <a:lnTo>
                    <a:pt x="0" y="115233"/>
                  </a:lnTo>
                  <a:cubicBezTo>
                    <a:pt x="0" y="51592"/>
                    <a:pt x="51592" y="0"/>
                    <a:pt x="115233" y="0"/>
                  </a:cubicBezTo>
                  <a:close/>
                </a:path>
              </a:pathLst>
            </a:custGeom>
            <a:gradFill rotWithShape="1">
              <a:gsLst>
                <a:gs pos="0">
                  <a:srgbClr val="000F9B">
                    <a:alpha val="100000"/>
                  </a:srgbClr>
                </a:gs>
                <a:gs pos="50000">
                  <a:srgbClr val="EB0000">
                    <a:alpha val="100000"/>
                  </a:srgbClr>
                </a:gs>
                <a:gs pos="100000">
                  <a:srgbClr val="A000EB">
                    <a:alpha val="100000"/>
                  </a:srgbClr>
                </a:gs>
              </a:gsLst>
              <a:path path="circle">
                <a:fillToRect r="100000" b="100000"/>
              </a:path>
              <a:tileRect l="-100000" t="-100000"/>
            </a:gradFill>
          </p:spPr>
        </p:sp>
        <p:sp>
          <p:nvSpPr>
            <p:cNvPr id="18" name="TextBox 18"/>
            <p:cNvSpPr txBox="1"/>
            <p:nvPr/>
          </p:nvSpPr>
          <p:spPr>
            <a:xfrm>
              <a:off x="0" y="-66675"/>
              <a:ext cx="990905" cy="716604"/>
            </a:xfrm>
            <a:prstGeom prst="rect">
              <a:avLst/>
            </a:prstGeom>
          </p:spPr>
          <p:txBody>
            <a:bodyPr lIns="50800" tIns="50800" rIns="50800" bIns="50800" rtlCol="0" anchor="ctr"/>
            <a:lstStyle/>
            <a:p>
              <a:pPr algn="ctr">
                <a:lnSpc>
                  <a:spcPts val="3151"/>
                </a:lnSpc>
              </a:pPr>
              <a:endParaRPr/>
            </a:p>
          </p:txBody>
        </p:sp>
      </p:grpSp>
      <p:sp>
        <p:nvSpPr>
          <p:cNvPr id="19" name="TextBox 19"/>
          <p:cNvSpPr txBox="1"/>
          <p:nvPr/>
        </p:nvSpPr>
        <p:spPr>
          <a:xfrm>
            <a:off x="9710511" y="8526123"/>
            <a:ext cx="3492157" cy="617234"/>
          </a:xfrm>
          <a:prstGeom prst="rect">
            <a:avLst/>
          </a:prstGeom>
        </p:spPr>
        <p:txBody>
          <a:bodyPr lIns="0" tIns="0" rIns="0" bIns="0" rtlCol="0" anchor="t">
            <a:spAutoFit/>
          </a:bodyPr>
          <a:lstStyle/>
          <a:p>
            <a:pPr marL="0" lvl="0" indent="0" algn="r">
              <a:lnSpc>
                <a:spcPts val="4829"/>
              </a:lnSpc>
              <a:spcBef>
                <a:spcPct val="0"/>
              </a:spcBef>
            </a:pPr>
            <a:r>
              <a:rPr lang="en-US" sz="3449">
                <a:solidFill>
                  <a:srgbClr val="FFFFFF"/>
                </a:solidFill>
                <a:latin typeface="Poppins"/>
                <a:ea typeface="Poppins"/>
                <a:cs typeface="Poppins"/>
                <a:sym typeface="Poppins"/>
              </a:rPr>
              <a:t>Recall</a:t>
            </a:r>
          </a:p>
        </p:txBody>
      </p:sp>
      <p:sp>
        <p:nvSpPr>
          <p:cNvPr id="20" name="TextBox 20"/>
          <p:cNvSpPr txBox="1"/>
          <p:nvPr/>
        </p:nvSpPr>
        <p:spPr>
          <a:xfrm>
            <a:off x="9740035" y="7370423"/>
            <a:ext cx="3492157" cy="1250950"/>
          </a:xfrm>
          <a:prstGeom prst="rect">
            <a:avLst/>
          </a:prstGeom>
        </p:spPr>
        <p:txBody>
          <a:bodyPr lIns="0" tIns="0" rIns="0" bIns="0" rtlCol="0" anchor="t">
            <a:spAutoFit/>
          </a:bodyPr>
          <a:lstStyle/>
          <a:p>
            <a:pPr marL="0" lvl="0" indent="0" algn="r">
              <a:lnSpc>
                <a:spcPts val="9799"/>
              </a:lnSpc>
              <a:spcBef>
                <a:spcPct val="0"/>
              </a:spcBef>
            </a:pPr>
            <a:r>
              <a:rPr lang="en-US" sz="6999" b="1">
                <a:solidFill>
                  <a:srgbClr val="FFFFFF"/>
                </a:solidFill>
                <a:latin typeface="Poppins Bold"/>
                <a:ea typeface="Poppins Bold"/>
                <a:cs typeface="Poppins Bold"/>
                <a:sym typeface="Poppins Bold"/>
              </a:rPr>
              <a:t>≈ 43.2%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792</Words>
  <Application>Microsoft Office PowerPoint</Application>
  <PresentationFormat>Custom</PresentationFormat>
  <Paragraphs>58</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Poppins Bold</vt:lpstr>
      <vt:lpstr>Telegraf Bold</vt:lpstr>
      <vt:lpstr>Poppins</vt:lpstr>
      <vt:lpstr>Calibri</vt:lpstr>
      <vt:lpstr>Open Sauce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Fraud Detection</dc:title>
  <cp:lastModifiedBy>Ved Badarshahi</cp:lastModifiedBy>
  <cp:revision>2</cp:revision>
  <dcterms:created xsi:type="dcterms:W3CDTF">2006-08-16T00:00:00Z</dcterms:created>
  <dcterms:modified xsi:type="dcterms:W3CDTF">2025-12-04T15:56:10Z</dcterms:modified>
  <dc:identifier>DAG4MiiyLk0</dc:identifier>
</cp:coreProperties>
</file>